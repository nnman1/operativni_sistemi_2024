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</p:sldMasterIdLst>
  <p:sldIdLst>
    <p:sldId id="256" r:id="rId12"/>
    <p:sldId id="257" r:id="rId13"/>
    <p:sldId id="258" r:id="rId14"/>
    <p:sldId id="259" r:id="rId15"/>
    <p:sldId id="30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  <p:sldId id="291" r:id="rId47"/>
    <p:sldId id="292" r:id="rId48"/>
    <p:sldId id="293" r:id="rId49"/>
    <p:sldId id="294" r:id="rId50"/>
    <p:sldId id="295" r:id="rId51"/>
    <p:sldId id="296" r:id="rId52"/>
    <p:sldId id="297" r:id="rId53"/>
    <p:sldId id="298" r:id="rId54"/>
    <p:sldId id="299" r:id="rId55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2.xml"/><Relationship Id="rId18" Type="http://schemas.openxmlformats.org/officeDocument/2006/relationships/slide" Target="slides/slide7.xml"/><Relationship Id="rId26" Type="http://schemas.openxmlformats.org/officeDocument/2006/relationships/slide" Target="slides/slide15.xml"/><Relationship Id="rId39" Type="http://schemas.openxmlformats.org/officeDocument/2006/relationships/slide" Target="slides/slide28.xml"/><Relationship Id="rId21" Type="http://schemas.openxmlformats.org/officeDocument/2006/relationships/slide" Target="slides/slide10.xml"/><Relationship Id="rId34" Type="http://schemas.openxmlformats.org/officeDocument/2006/relationships/slide" Target="slides/slide23.xml"/><Relationship Id="rId42" Type="http://schemas.openxmlformats.org/officeDocument/2006/relationships/slide" Target="slides/slide31.xml"/><Relationship Id="rId47" Type="http://schemas.openxmlformats.org/officeDocument/2006/relationships/slide" Target="slides/slide36.xml"/><Relationship Id="rId50" Type="http://schemas.openxmlformats.org/officeDocument/2006/relationships/slide" Target="slides/slide39.xml"/><Relationship Id="rId55" Type="http://schemas.openxmlformats.org/officeDocument/2006/relationships/slide" Target="slides/slide44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5.xml"/><Relationship Id="rId29" Type="http://schemas.openxmlformats.org/officeDocument/2006/relationships/slide" Target="slides/slide18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3.xml"/><Relationship Id="rId32" Type="http://schemas.openxmlformats.org/officeDocument/2006/relationships/slide" Target="slides/slide21.xml"/><Relationship Id="rId37" Type="http://schemas.openxmlformats.org/officeDocument/2006/relationships/slide" Target="slides/slide26.xml"/><Relationship Id="rId40" Type="http://schemas.openxmlformats.org/officeDocument/2006/relationships/slide" Target="slides/slide29.xml"/><Relationship Id="rId45" Type="http://schemas.openxmlformats.org/officeDocument/2006/relationships/slide" Target="slides/slide34.xml"/><Relationship Id="rId53" Type="http://schemas.openxmlformats.org/officeDocument/2006/relationships/slide" Target="slides/slide42.xml"/><Relationship Id="rId58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9" Type="http://schemas.openxmlformats.org/officeDocument/2006/relationships/slide" Target="slides/slide8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3.xml"/><Relationship Id="rId22" Type="http://schemas.openxmlformats.org/officeDocument/2006/relationships/slide" Target="slides/slide11.xml"/><Relationship Id="rId27" Type="http://schemas.openxmlformats.org/officeDocument/2006/relationships/slide" Target="slides/slide16.xml"/><Relationship Id="rId30" Type="http://schemas.openxmlformats.org/officeDocument/2006/relationships/slide" Target="slides/slide19.xml"/><Relationship Id="rId35" Type="http://schemas.openxmlformats.org/officeDocument/2006/relationships/slide" Target="slides/slide24.xml"/><Relationship Id="rId43" Type="http://schemas.openxmlformats.org/officeDocument/2006/relationships/slide" Target="slides/slide32.xml"/><Relationship Id="rId48" Type="http://schemas.openxmlformats.org/officeDocument/2006/relationships/slide" Target="slides/slide37.xml"/><Relationship Id="rId56" Type="http://schemas.openxmlformats.org/officeDocument/2006/relationships/presProps" Target="presProps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40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1.xml"/><Relationship Id="rId17" Type="http://schemas.openxmlformats.org/officeDocument/2006/relationships/slide" Target="slides/slide6.xml"/><Relationship Id="rId25" Type="http://schemas.openxmlformats.org/officeDocument/2006/relationships/slide" Target="slides/slide14.xml"/><Relationship Id="rId33" Type="http://schemas.openxmlformats.org/officeDocument/2006/relationships/slide" Target="slides/slide22.xml"/><Relationship Id="rId38" Type="http://schemas.openxmlformats.org/officeDocument/2006/relationships/slide" Target="slides/slide27.xml"/><Relationship Id="rId46" Type="http://schemas.openxmlformats.org/officeDocument/2006/relationships/slide" Target="slides/slide35.xml"/><Relationship Id="rId59" Type="http://schemas.openxmlformats.org/officeDocument/2006/relationships/tableStyles" Target="tableStyles.xml"/><Relationship Id="rId20" Type="http://schemas.openxmlformats.org/officeDocument/2006/relationships/slide" Target="slides/slide9.xml"/><Relationship Id="rId41" Type="http://schemas.openxmlformats.org/officeDocument/2006/relationships/slide" Target="slides/slide30.xml"/><Relationship Id="rId54" Type="http://schemas.openxmlformats.org/officeDocument/2006/relationships/slide" Target="slides/slide43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4.xml"/><Relationship Id="rId23" Type="http://schemas.openxmlformats.org/officeDocument/2006/relationships/slide" Target="slides/slide12.xml"/><Relationship Id="rId28" Type="http://schemas.openxmlformats.org/officeDocument/2006/relationships/slide" Target="slides/slide17.xml"/><Relationship Id="rId36" Type="http://schemas.openxmlformats.org/officeDocument/2006/relationships/slide" Target="slides/slide25.xml"/><Relationship Id="rId49" Type="http://schemas.openxmlformats.org/officeDocument/2006/relationships/slide" Target="slides/slide38.xml"/><Relationship Id="rId57" Type="http://schemas.openxmlformats.org/officeDocument/2006/relationships/viewProps" Target="viewProps.xml"/><Relationship Id="rId10" Type="http://schemas.openxmlformats.org/officeDocument/2006/relationships/slideMaster" Target="slideMasters/slideMaster10.xml"/><Relationship Id="rId31" Type="http://schemas.openxmlformats.org/officeDocument/2006/relationships/slide" Target="slides/slide20.xml"/><Relationship Id="rId44" Type="http://schemas.openxmlformats.org/officeDocument/2006/relationships/slide" Target="slides/slide33.xml"/><Relationship Id="rId52" Type="http://schemas.openxmlformats.org/officeDocument/2006/relationships/slide" Target="slides/slide4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3CB12C2D-289B-4C5A-BDB7-8F7406A020E6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98DD5088-E58F-4FDB-9E60-AF146096F3EB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968B30A2-F435-495E-A86D-B76F32B62A65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DE98CCD0-A613-4CB9-96FF-FCB5B43D51DC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3B9A3679-53EC-470F-9ACA-1EF556C88360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C95B48F0-60A3-420C-9931-3F3246B483D8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lstStyle/>
          <a:p>
            <a:fld id="{77356D60-483C-4159-865D-88735A38F088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lstStyle/>
          <a:p>
            <a:fld id="{8193C981-17A7-41C2-9B99-B04CD60BB486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lstStyle/>
          <a:p>
            <a:fld id="{1E152C76-5263-4979-BC7C-CC33557372D9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0BFA3DE7-1B2A-42B9-A4BF-296728A4AEB3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095480A5-133B-4471-828A-730648851443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GB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5CF2C1-B683-4D87-A817-66784CBCD2C6}" type="slidenum">
              <a:rPr lang="en-GB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GB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98E2C6C-1770-43D9-A070-52A708B2F626}" type="slidenum">
              <a:rPr lang="en-GB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1" name="PlaceHolder 2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GB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FDE2764-46FD-4535-98D7-629AB21D265B}" type="slidenum">
              <a:rPr lang="en-GB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5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GB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75B33A-959B-4A39-B4F3-DBB847B1FFF3}" type="slidenum">
              <a:rPr lang="en-GB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GB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42C38D9-6FEA-4BE9-A61B-8C81AE80BEF2}" type="slidenum">
              <a:rPr lang="en-GB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30720" cy="435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226200" y="1825560"/>
            <a:ext cx="5130720" cy="435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6" name="PlaceHolder 4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GB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5389F8C-41DB-497C-A8C1-A013A0908A1A}" type="slidenum">
              <a:rPr lang="en-GB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GB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0036DEB-B1E3-4C64-813C-1CA5A8A8D0AC}" type="slidenum">
              <a:rPr lang="en-GB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6" name="PlaceHolder 2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7" name="PlaceHolder 3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GB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3934C29-0D30-4B65-B979-5D53D566ED16}" type="slidenum">
              <a:rPr lang="en-GB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GB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3953DD1-B11D-4CA1-8A66-F8667FD04669}" type="slidenum">
              <a:rPr lang="en-GB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GB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2FF0395-CF9C-4F67-AA88-B403F7DCF6D1}" type="slidenum">
              <a:rPr lang="en-GB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7" name="PlaceHolder 2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GB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813AFD-AF9A-426F-AD29-E815FBF09BEF}" type="slidenum">
              <a:rPr lang="en-GB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docker.com/engine/install/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hub.docker.com/" TargetMode="Externa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hub.docker.com/" TargetMode="Externa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6000" b="0" strike="noStrike" spc="-1">
                <a:solidFill>
                  <a:schemeClr val="dk1"/>
                </a:solidFill>
                <a:latin typeface="Aptos Display"/>
              </a:rPr>
              <a:t>Docker</a:t>
            </a:r>
            <a:endParaRPr lang="en-US" sz="6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2920" cy="1654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E0E4C2FF-D3AA-4201-BD3A-80A81C4AE514}" type="slidenum">
              <a:rPr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104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908280" y="1360440"/>
            <a:ext cx="4604400" cy="238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5000" b="0" strike="noStrike" spc="-1">
                <a:solidFill>
                  <a:schemeClr val="lt1"/>
                </a:solidFill>
                <a:latin typeface="Aptos Display"/>
              </a:rPr>
              <a:t>Motivacija</a:t>
            </a:r>
            <a:endParaRPr lang="en-US" sz="5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3" name="Picture 2"/>
          <p:cNvPicPr/>
          <p:nvPr/>
        </p:nvPicPr>
        <p:blipFill>
          <a:blip r:embed="rId2"/>
          <a:srcRect b="932"/>
          <a:stretch/>
        </p:blipFill>
        <p:spPr>
          <a:xfrm>
            <a:off x="7115040" y="115200"/>
            <a:ext cx="4949640" cy="6626520"/>
          </a:xfrm>
          <a:prstGeom prst="rect">
            <a:avLst/>
          </a:prstGeom>
          <a:ln w="0">
            <a:noFill/>
          </a:ln>
        </p:spPr>
      </p:pic>
      <p:cxnSp>
        <p:nvCxnSpPr>
          <p:cNvPr id="54" name="Straight Connector 104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115040" y="114840"/>
            <a:ext cx="1080" cy="6629040"/>
          </a:xfrm>
          <a:prstGeom prst="straightConnector1">
            <a:avLst/>
          </a:prstGeom>
          <a:ln w="0">
            <a:solidFill>
              <a:srgbClr val="E97132"/>
            </a:solidFill>
          </a:ln>
        </p:spPr>
      </p:cxnSp>
      <p:sp>
        <p:nvSpPr>
          <p:cNvPr id="55" name="Rectangle 104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6360" y="115200"/>
            <a:ext cx="11938680" cy="6626520"/>
          </a:xfrm>
          <a:prstGeom prst="rect">
            <a:avLst/>
          </a:prstGeom>
          <a:noFill/>
          <a:ln w="12700">
            <a:solidFill>
              <a:srgbClr val="E9713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00F854E2-9AB3-4B43-8876-B991FE19104A}" type="slidenum"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400" b="0" strike="noStrike" spc="-1">
                <a:solidFill>
                  <a:schemeClr val="dk1"/>
                </a:solidFill>
                <a:latin typeface="Aptos Display"/>
              </a:rPr>
              <a:t>Motivacija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6666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Aptos"/>
              </a:rPr>
              <a:t>Instaliraj ove alate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Aptos"/>
              </a:rPr>
              <a:t>Instaliraj DBMS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Aptos"/>
              </a:rPr>
              <a:t>Instaliraj ove biblioteke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Aptos"/>
              </a:rPr>
              <a:t>Promijeni ovaj konfig fajl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Aptos"/>
              </a:rPr>
              <a:t>Idalje ne radi, koristim Windows OS, a ovo je pravljeno za Linux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strike="noStrike" spc="-1">
                <a:solidFill>
                  <a:schemeClr val="dk1"/>
                </a:solidFill>
                <a:latin typeface="Aptos"/>
              </a:rPr>
              <a:t>Pokreni </a:t>
            </a:r>
            <a:r>
              <a:rPr lang="en-GB" sz="2800" b="1" strike="noStrike" spc="-1">
                <a:solidFill>
                  <a:schemeClr val="dk1"/>
                </a:solidFill>
                <a:latin typeface="Aptos"/>
              </a:rPr>
              <a:t>docker compose up	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Arrow: Down 6"/>
          <p:cNvSpPr/>
          <p:nvPr/>
        </p:nvSpPr>
        <p:spPr>
          <a:xfrm>
            <a:off x="3060360" y="4620600"/>
            <a:ext cx="712080" cy="6012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175332AC-1CAB-4E3F-925F-C626759C7317}" type="slidenum"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26920" y="1641600"/>
            <a:ext cx="3526200" cy="4365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000" b="0" strike="noStrike" spc="-1" dirty="0">
                <a:solidFill>
                  <a:schemeClr val="bg2"/>
                </a:solidFill>
                <a:latin typeface="Aptos Display"/>
              </a:rPr>
              <a:t>Šta je kontejner</a:t>
            </a:r>
            <a:endParaRPr lang="en-US" sz="4000" b="0" strike="noStrike" spc="-1" dirty="0">
              <a:solidFill>
                <a:schemeClr val="bg2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835200" y="2352960"/>
            <a:ext cx="5259960" cy="395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7222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400" b="0" strike="noStrike" spc="-1" dirty="0">
                <a:solidFill>
                  <a:schemeClr val="bg2"/>
                </a:solidFill>
                <a:latin typeface="Aptos"/>
              </a:rPr>
              <a:t>Doker kontejner je skup softverskih paketa koji sadrži sve što je potrebno da bi se pokrenula aplikacija</a:t>
            </a:r>
            <a:endParaRPr lang="en-US" sz="2400" b="0" strike="noStrike" spc="-1" dirty="0">
              <a:solidFill>
                <a:schemeClr val="bg2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0" strike="noStrike" spc="-1" dirty="0">
                <a:solidFill>
                  <a:schemeClr val="bg2"/>
                </a:solidFill>
                <a:latin typeface="Aptos"/>
              </a:rPr>
              <a:t>OS pakete</a:t>
            </a:r>
            <a:endParaRPr lang="en-US" sz="2000" b="0" strike="noStrike" spc="-1" dirty="0">
              <a:solidFill>
                <a:schemeClr val="bg2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0" strike="noStrike" spc="-1" dirty="0">
                <a:solidFill>
                  <a:schemeClr val="bg2"/>
                </a:solidFill>
                <a:latin typeface="Aptos"/>
              </a:rPr>
              <a:t>Runtime okruzenje (Npr Python ili Node JS)</a:t>
            </a:r>
            <a:endParaRPr lang="en-US" sz="2000" b="0" strike="noStrike" spc="-1" dirty="0">
              <a:solidFill>
                <a:schemeClr val="bg2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0" strike="noStrike" spc="-1" dirty="0">
                <a:solidFill>
                  <a:schemeClr val="bg2"/>
                </a:solidFill>
                <a:latin typeface="Aptos"/>
              </a:rPr>
              <a:t>Sve biblioteke koje su potrebne</a:t>
            </a:r>
            <a:endParaRPr lang="en-US" sz="2000" b="0" strike="noStrike" spc="-1" dirty="0">
              <a:solidFill>
                <a:schemeClr val="bg2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0" strike="noStrike" spc="-1" dirty="0">
                <a:solidFill>
                  <a:schemeClr val="bg2"/>
                </a:solidFill>
                <a:latin typeface="Aptos"/>
              </a:rPr>
              <a:t>Sadrži kod aplikacije</a:t>
            </a:r>
            <a:endParaRPr lang="en-US" sz="2000" b="0" strike="noStrike" spc="-1" dirty="0">
              <a:solidFill>
                <a:schemeClr val="bg2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400" b="0" strike="noStrike" spc="-1" dirty="0">
                <a:solidFill>
                  <a:schemeClr val="bg2"/>
                </a:solidFill>
                <a:latin typeface="Aptos"/>
              </a:rPr>
              <a:t>Ne zahtijeva neke druge softvere osim dockera kako bi se pokrenula aplikacija</a:t>
            </a:r>
            <a:endParaRPr lang="en-US" sz="2400" b="0" strike="noStrike" spc="-1" dirty="0">
              <a:solidFill>
                <a:schemeClr val="bg2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400" b="0" strike="noStrike" spc="-1" dirty="0">
                <a:solidFill>
                  <a:schemeClr val="bg2"/>
                </a:solidFill>
                <a:latin typeface="Aptos"/>
              </a:rPr>
              <a:t>Možemo lako pokrenuti više instanci apliakcije po potrebi</a:t>
            </a:r>
            <a:endParaRPr lang="en-US" sz="2400" b="0" strike="noStrike" spc="-1" dirty="0">
              <a:solidFill>
                <a:schemeClr val="bg2"/>
              </a:solidFill>
              <a:latin typeface="Arial"/>
            </a:endParaRPr>
          </a:p>
        </p:txBody>
      </p:sp>
      <p:grpSp>
        <p:nvGrpSpPr>
          <p:cNvPr id="62" name="Group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1478960" y="0"/>
            <a:ext cx="712080" cy="6856920"/>
            <a:chOff x="11478960" y="0"/>
            <a:chExt cx="712080" cy="6856920"/>
          </a:xfrm>
        </p:grpSpPr>
        <p:sp>
          <p:nvSpPr>
            <p:cNvPr id="63" name="Freeform: Shape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78960" y="0"/>
              <a:ext cx="712080" cy="6856920"/>
            </a:xfrm>
            <a:custGeom>
              <a:avLst/>
              <a:gdLst>
                <a:gd name="textAreaLeft" fmla="*/ 0 w 712080"/>
                <a:gd name="textAreaRight" fmla="*/ 713160 w 712080"/>
                <a:gd name="textAreaTop" fmla="*/ 0 h 6856920"/>
                <a:gd name="textAreaBottom" fmla="*/ 6858000 h 6856920"/>
              </a:gdLst>
              <a:ahLst/>
              <a:cxnLst/>
              <a:rect l="textAreaLeft" t="textAreaTop" r="textAreaRight" b="textAreaBottom"/>
              <a:pathLst>
                <a:path w="712982" h="6858000">
                  <a:moveTo>
                    <a:pt x="280560" y="0"/>
                  </a:moveTo>
                  <a:lnTo>
                    <a:pt x="712982" y="0"/>
                  </a:lnTo>
                  <a:lnTo>
                    <a:pt x="712982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  <p:sp>
          <p:nvSpPr>
            <p:cNvPr id="64" name="Freeform: Shape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478960" y="0"/>
              <a:ext cx="712080" cy="6856920"/>
            </a:xfrm>
            <a:custGeom>
              <a:avLst/>
              <a:gdLst>
                <a:gd name="textAreaLeft" fmla="*/ 0 w 712080"/>
                <a:gd name="textAreaRight" fmla="*/ 713160 w 712080"/>
                <a:gd name="textAreaTop" fmla="*/ 0 h 6856920"/>
                <a:gd name="textAreaBottom" fmla="*/ 6858000 h 6856920"/>
              </a:gdLst>
              <a:ahLst/>
              <a:cxnLst/>
              <a:rect l="textAreaLeft" t="textAreaTop" r="textAreaRight" b="textAreaBottom"/>
              <a:pathLst>
                <a:path w="712985" h="6858000">
                  <a:moveTo>
                    <a:pt x="280560" y="0"/>
                  </a:moveTo>
                  <a:lnTo>
                    <a:pt x="712985" y="0"/>
                  </a:lnTo>
                  <a:lnTo>
                    <a:pt x="712985" y="6858000"/>
                  </a:lnTo>
                  <a:lnTo>
                    <a:pt x="372527" y="6858000"/>
                  </a:lnTo>
                  <a:lnTo>
                    <a:pt x="372901" y="6835810"/>
                  </a:lnTo>
                  <a:cubicBezTo>
                    <a:pt x="343741" y="6729822"/>
                    <a:pt x="373381" y="6623551"/>
                    <a:pt x="363017" y="6518145"/>
                  </a:cubicBezTo>
                  <a:cubicBezTo>
                    <a:pt x="358372" y="6470360"/>
                    <a:pt x="362468" y="6422202"/>
                    <a:pt x="310498" y="6393936"/>
                  </a:cubicBezTo>
                  <a:cubicBezTo>
                    <a:pt x="303659" y="6390296"/>
                    <a:pt x="304819" y="6368800"/>
                    <a:pt x="305420" y="6355564"/>
                  </a:cubicBezTo>
                  <a:cubicBezTo>
                    <a:pt x="306594" y="6326166"/>
                    <a:pt x="314451" y="6296329"/>
                    <a:pt x="311030" y="6267729"/>
                  </a:cubicBezTo>
                  <a:cubicBezTo>
                    <a:pt x="304253" y="6208466"/>
                    <a:pt x="293104" y="6149393"/>
                    <a:pt x="281440" y="6090959"/>
                  </a:cubicBezTo>
                  <a:cubicBezTo>
                    <a:pt x="276978" y="6068911"/>
                    <a:pt x="266829" y="6048361"/>
                    <a:pt x="258928" y="6026981"/>
                  </a:cubicBezTo>
                  <a:cubicBezTo>
                    <a:pt x="254416" y="6015184"/>
                    <a:pt x="244605" y="6003083"/>
                    <a:pt x="245105" y="5991615"/>
                  </a:cubicBezTo>
                  <a:cubicBezTo>
                    <a:pt x="248075" y="5925141"/>
                    <a:pt x="216651" y="5867990"/>
                    <a:pt x="197441" y="5807458"/>
                  </a:cubicBezTo>
                  <a:cubicBezTo>
                    <a:pt x="188523" y="5779456"/>
                    <a:pt x="171697" y="5754078"/>
                    <a:pt x="159115" y="5727356"/>
                  </a:cubicBezTo>
                  <a:cubicBezTo>
                    <a:pt x="155717" y="5720411"/>
                    <a:pt x="152517" y="5712566"/>
                    <a:pt x="152306" y="5705270"/>
                  </a:cubicBezTo>
                  <a:cubicBezTo>
                    <a:pt x="151252" y="5663532"/>
                    <a:pt x="151674" y="5621922"/>
                    <a:pt x="150939" y="5580441"/>
                  </a:cubicBezTo>
                  <a:cubicBezTo>
                    <a:pt x="150326" y="5542748"/>
                    <a:pt x="147369" y="5505023"/>
                    <a:pt x="187956" y="5482729"/>
                  </a:cubicBezTo>
                  <a:cubicBezTo>
                    <a:pt x="194324" y="5479395"/>
                    <a:pt x="198291" y="5470181"/>
                    <a:pt x="201902" y="5463053"/>
                  </a:cubicBezTo>
                  <a:cubicBezTo>
                    <a:pt x="257480" y="5353065"/>
                    <a:pt x="249730" y="5298303"/>
                    <a:pt x="168174" y="5205662"/>
                  </a:cubicBezTo>
                  <a:cubicBezTo>
                    <a:pt x="159805" y="5196040"/>
                    <a:pt x="152161" y="5174340"/>
                    <a:pt x="157186" y="5166766"/>
                  </a:cubicBezTo>
                  <a:cubicBezTo>
                    <a:pt x="198743" y="5102508"/>
                    <a:pt x="186477" y="5038579"/>
                    <a:pt x="163999" y="4972256"/>
                  </a:cubicBezTo>
                  <a:cubicBezTo>
                    <a:pt x="158020" y="4955056"/>
                    <a:pt x="155299" y="4930181"/>
                    <a:pt x="163388" y="4915833"/>
                  </a:cubicBezTo>
                  <a:cubicBezTo>
                    <a:pt x="200708" y="4847649"/>
                    <a:pt x="186907" y="4780374"/>
                    <a:pt x="166361" y="4712964"/>
                  </a:cubicBezTo>
                  <a:cubicBezTo>
                    <a:pt x="163165" y="4702485"/>
                    <a:pt x="150748" y="4690669"/>
                    <a:pt x="140122" y="4687152"/>
                  </a:cubicBezTo>
                  <a:cubicBezTo>
                    <a:pt x="102452" y="4674589"/>
                    <a:pt x="86917" y="4644970"/>
                    <a:pt x="73058" y="4611951"/>
                  </a:cubicBezTo>
                  <a:cubicBezTo>
                    <a:pt x="50686" y="4559957"/>
                    <a:pt x="25516" y="4509149"/>
                    <a:pt x="3979" y="4456771"/>
                  </a:cubicBezTo>
                  <a:cubicBezTo>
                    <a:pt x="-1236" y="4443877"/>
                    <a:pt x="-726" y="4427139"/>
                    <a:pt x="2091" y="4412781"/>
                  </a:cubicBezTo>
                  <a:cubicBezTo>
                    <a:pt x="11653" y="4363733"/>
                    <a:pt x="45382" y="4329603"/>
                    <a:pt x="75905" y="4292897"/>
                  </a:cubicBezTo>
                  <a:cubicBezTo>
                    <a:pt x="89361" y="4276787"/>
                    <a:pt x="97880" y="4255660"/>
                    <a:pt x="104434" y="4235333"/>
                  </a:cubicBezTo>
                  <a:cubicBezTo>
                    <a:pt x="121200" y="4182569"/>
                    <a:pt x="135523" y="4128901"/>
                    <a:pt x="151065" y="4075686"/>
                  </a:cubicBezTo>
                  <a:cubicBezTo>
                    <a:pt x="152552" y="4070549"/>
                    <a:pt x="157315" y="4065932"/>
                    <a:pt x="161243" y="4061695"/>
                  </a:cubicBezTo>
                  <a:cubicBezTo>
                    <a:pt x="202828" y="4019095"/>
                    <a:pt x="244731" y="3976753"/>
                    <a:pt x="286285" y="3933862"/>
                  </a:cubicBezTo>
                  <a:cubicBezTo>
                    <a:pt x="294168" y="3925683"/>
                    <a:pt x="299393" y="3914571"/>
                    <a:pt x="306926" y="3905847"/>
                  </a:cubicBezTo>
                  <a:cubicBezTo>
                    <a:pt x="317292" y="3893589"/>
                    <a:pt x="326766" y="3878502"/>
                    <a:pt x="340015" y="3871199"/>
                  </a:cubicBezTo>
                  <a:cubicBezTo>
                    <a:pt x="381725" y="3848490"/>
                    <a:pt x="396760" y="3812013"/>
                    <a:pt x="400111" y="3767743"/>
                  </a:cubicBezTo>
                  <a:cubicBezTo>
                    <a:pt x="403294" y="3727294"/>
                    <a:pt x="405323" y="3686973"/>
                    <a:pt x="409694" y="3646690"/>
                  </a:cubicBezTo>
                  <a:cubicBezTo>
                    <a:pt x="414852" y="3597538"/>
                    <a:pt x="420910" y="3548579"/>
                    <a:pt x="428447" y="3499752"/>
                  </a:cubicBezTo>
                  <a:cubicBezTo>
                    <a:pt x="431696" y="3478619"/>
                    <a:pt x="435683" y="3456228"/>
                    <a:pt x="445033" y="3437349"/>
                  </a:cubicBezTo>
                  <a:cubicBezTo>
                    <a:pt x="470858" y="3384475"/>
                    <a:pt x="486179" y="3329236"/>
                    <a:pt x="471431" y="3272018"/>
                  </a:cubicBezTo>
                  <a:cubicBezTo>
                    <a:pt x="459682" y="3226180"/>
                    <a:pt x="472474" y="3185267"/>
                    <a:pt x="495919" y="3153432"/>
                  </a:cubicBezTo>
                  <a:cubicBezTo>
                    <a:pt x="538461" y="3095505"/>
                    <a:pt x="521296" y="3040311"/>
                    <a:pt x="499541" y="2985907"/>
                  </a:cubicBezTo>
                  <a:cubicBezTo>
                    <a:pt x="488276" y="2957871"/>
                    <a:pt x="486838" y="2934028"/>
                    <a:pt x="491640" y="2905697"/>
                  </a:cubicBezTo>
                  <a:cubicBezTo>
                    <a:pt x="502898" y="2840071"/>
                    <a:pt x="547705" y="2792141"/>
                    <a:pt x="586592" y="2746325"/>
                  </a:cubicBezTo>
                  <a:cubicBezTo>
                    <a:pt x="619786" y="2707275"/>
                    <a:pt x="636305" y="2665661"/>
                    <a:pt x="647211" y="2620857"/>
                  </a:cubicBezTo>
                  <a:cubicBezTo>
                    <a:pt x="661216" y="2564298"/>
                    <a:pt x="648982" y="2522027"/>
                    <a:pt x="598120" y="2501248"/>
                  </a:cubicBezTo>
                  <a:cubicBezTo>
                    <a:pt x="583733" y="2495506"/>
                    <a:pt x="566431" y="2484521"/>
                    <a:pt x="560897" y="2471368"/>
                  </a:cubicBezTo>
                  <a:cubicBezTo>
                    <a:pt x="533469" y="2407931"/>
                    <a:pt x="496686" y="2344634"/>
                    <a:pt x="506928" y="2272389"/>
                  </a:cubicBezTo>
                  <a:cubicBezTo>
                    <a:pt x="520879" y="2172517"/>
                    <a:pt x="509052" y="2077807"/>
                    <a:pt x="474122" y="1983284"/>
                  </a:cubicBezTo>
                  <a:cubicBezTo>
                    <a:pt x="417537" y="1829959"/>
                    <a:pt x="358639" y="1676886"/>
                    <a:pt x="349180" y="1510207"/>
                  </a:cubicBezTo>
                  <a:cubicBezTo>
                    <a:pt x="347619" y="1482573"/>
                    <a:pt x="326399" y="1451821"/>
                    <a:pt x="306451" y="1430003"/>
                  </a:cubicBezTo>
                  <a:cubicBezTo>
                    <a:pt x="268511" y="1388202"/>
                    <a:pt x="266127" y="1390512"/>
                    <a:pt x="287747" y="1336633"/>
                  </a:cubicBezTo>
                  <a:cubicBezTo>
                    <a:pt x="293070" y="1323756"/>
                    <a:pt x="295470" y="1308272"/>
                    <a:pt x="304326" y="1298229"/>
                  </a:cubicBezTo>
                  <a:cubicBezTo>
                    <a:pt x="349361" y="1247057"/>
                    <a:pt x="331041" y="1191986"/>
                    <a:pt x="317671" y="1136667"/>
                  </a:cubicBezTo>
                  <a:cubicBezTo>
                    <a:pt x="315148" y="1126990"/>
                    <a:pt x="311827" y="1115354"/>
                    <a:pt x="314959" y="1106522"/>
                  </a:cubicBezTo>
                  <a:cubicBezTo>
                    <a:pt x="329032" y="1066641"/>
                    <a:pt x="319157" y="1035231"/>
                    <a:pt x="290675" y="1004980"/>
                  </a:cubicBezTo>
                  <a:cubicBezTo>
                    <a:pt x="266138" y="978690"/>
                    <a:pt x="249805" y="947108"/>
                    <a:pt x="272712" y="910357"/>
                  </a:cubicBezTo>
                  <a:cubicBezTo>
                    <a:pt x="323486" y="828702"/>
                    <a:pt x="317578" y="747981"/>
                    <a:pt x="270963" y="667028"/>
                  </a:cubicBezTo>
                  <a:cubicBezTo>
                    <a:pt x="237707" y="609204"/>
                    <a:pt x="225082" y="549995"/>
                    <a:pt x="244986" y="483131"/>
                  </a:cubicBezTo>
                  <a:cubicBezTo>
                    <a:pt x="252708" y="457408"/>
                    <a:pt x="242285" y="426353"/>
                    <a:pt x="241465" y="397465"/>
                  </a:cubicBezTo>
                  <a:cubicBezTo>
                    <a:pt x="240850" y="381142"/>
                    <a:pt x="239176" y="363176"/>
                    <a:pt x="244890" y="348507"/>
                  </a:cubicBezTo>
                  <a:cubicBezTo>
                    <a:pt x="259350" y="309454"/>
                    <a:pt x="279299" y="272445"/>
                    <a:pt x="293439" y="233141"/>
                  </a:cubicBezTo>
                  <a:cubicBezTo>
                    <a:pt x="300152" y="214256"/>
                    <a:pt x="302437" y="192349"/>
                    <a:pt x="300513" y="172069"/>
                  </a:cubicBezTo>
                  <a:close/>
                </a:path>
              </a:pathLst>
            </a:custGeom>
            <a:blipFill rotWithShape="0">
              <a:blip r:embed="rId2">
                <a:alphaModFix amt="57000"/>
              </a:blip>
              <a:srcRect/>
              <a:tile tx="0" ty="0" sx="100000" sy="100000" algn="tl"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Aptos"/>
              </a:endParaRPr>
            </a:p>
          </p:txBody>
        </p:sp>
      </p:grpSp>
      <p:pic>
        <p:nvPicPr>
          <p:cNvPr id="65" name="Picture 4"/>
          <p:cNvPicPr/>
          <p:nvPr/>
        </p:nvPicPr>
        <p:blipFill>
          <a:blip r:embed="rId3"/>
          <a:stretch/>
        </p:blipFill>
        <p:spPr>
          <a:xfrm>
            <a:off x="7263360" y="1627920"/>
            <a:ext cx="3047400" cy="3028320"/>
          </a:xfrm>
          <a:prstGeom prst="rect">
            <a:avLst/>
          </a:prstGeom>
          <a:ln w="0">
            <a:noFill/>
          </a:ln>
        </p:spPr>
      </p:pic>
      <p:pic>
        <p:nvPicPr>
          <p:cNvPr id="66" name="Picture 6"/>
          <p:cNvPicPr/>
          <p:nvPr/>
        </p:nvPicPr>
        <p:blipFill>
          <a:blip r:embed="rId4"/>
          <a:stretch/>
        </p:blipFill>
        <p:spPr>
          <a:xfrm>
            <a:off x="7229880" y="5313600"/>
            <a:ext cx="3114000" cy="8848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596E9744-7670-4BC6-BC80-F2BAFD540162}" type="slidenum">
              <a:rPr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77349-0253-8295-9954-1492DAF34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20">
            <a:extLst>
              <a:ext uri="{FF2B5EF4-FFF2-40B4-BE49-F238E27FC236}">
                <a16:creationId xmlns:a16="http://schemas.microsoft.com/office/drawing/2014/main" id="{0A2780E1-C7D3-CBA2-CE77-FFDEE9DAAE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68" name="PlaceHolder 1">
            <a:extLst>
              <a:ext uri="{FF2B5EF4-FFF2-40B4-BE49-F238E27FC236}">
                <a16:creationId xmlns:a16="http://schemas.microsoft.com/office/drawing/2014/main" id="{E18A1B40-0DB5-ECC2-259D-F7FDB9848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080" y="1641600"/>
            <a:ext cx="4389840" cy="132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000" b="0" strike="noStrike" spc="-1">
                <a:solidFill>
                  <a:schemeClr val="lt1"/>
                </a:solidFill>
                <a:latin typeface="Aptos Display"/>
              </a:rPr>
              <a:t>Evolucija Virtualizacije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2">
            <a:extLst>
              <a:ext uri="{FF2B5EF4-FFF2-40B4-BE49-F238E27FC236}">
                <a16:creationId xmlns:a16="http://schemas.microsoft.com/office/drawing/2014/main" id="{624CA48C-3EE3-803A-1F41-F4A36B18FC82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838080" y="3146400"/>
            <a:ext cx="4389840" cy="245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3333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Bare metal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Konflikt između verzija softvera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Slaba iskorištenost hardvera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Slaba izolacija problema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Sporo restartovanje sistema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Zahtjevna instalacija na novi hardver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0" name="Content Placeholder 4">
            <a:extLst>
              <a:ext uri="{FF2B5EF4-FFF2-40B4-BE49-F238E27FC236}">
                <a16:creationId xmlns:a16="http://schemas.microsoft.com/office/drawing/2014/main" id="{88A374DD-6272-CA5B-6D54-DF2C028C22C5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6095880" y="1686600"/>
            <a:ext cx="5259960" cy="344484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>
            <a:extLst>
              <a:ext uri="{FF2B5EF4-FFF2-40B4-BE49-F238E27FC236}">
                <a16:creationId xmlns:a16="http://schemas.microsoft.com/office/drawing/2014/main" id="{886EEE83-9EA8-E42D-0F42-A44AB8B413ED}"/>
              </a:ext>
            </a:extLst>
          </p:cNvPr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209C924C-56B2-4F79-B339-B3B6778BA985}" type="slidenum">
              <a:rPr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922532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838080" y="1641600"/>
            <a:ext cx="4389840" cy="132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000" b="0" strike="noStrike" spc="-1">
                <a:solidFill>
                  <a:schemeClr val="lt1"/>
                </a:solidFill>
                <a:latin typeface="Aptos Display"/>
              </a:rPr>
              <a:t>Evolucija Virtualizacije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838080" y="3146400"/>
            <a:ext cx="4389840" cy="245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2500" lnSpcReduction="2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Virtuelne mašine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Hiervizor dijeli resurse host sistema i simulira više odvojenih virtuelnih mašina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Nema konflikta između verzija softvera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Bolja iskorištenost hardvera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Problem na jednoj APP ne utiče na druge APP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Brže restartovanje sistema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Lakša instalacija na novi hardver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4" name="Picture 4" descr="Bare metal diagram"/>
          <p:cNvPicPr/>
          <p:nvPr/>
        </p:nvPicPr>
        <p:blipFill>
          <a:blip r:embed="rId2"/>
          <a:stretch/>
        </p:blipFill>
        <p:spPr>
          <a:xfrm>
            <a:off x="6672240" y="1079280"/>
            <a:ext cx="4075560" cy="469836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AE9A4CBD-520E-45CE-9AE3-58499DA6A943}" type="slidenum"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838080" y="1641600"/>
            <a:ext cx="4389840" cy="132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000" b="0" strike="noStrike" spc="-1">
                <a:solidFill>
                  <a:schemeClr val="lt1"/>
                </a:solidFill>
                <a:latin typeface="Aptos Display"/>
              </a:rPr>
              <a:t>Evolucija Virtualizacije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838080" y="3146400"/>
            <a:ext cx="4389840" cy="263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5000" lnSpcReduction="2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Kontejneri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Kontejner za razliku od VM koristi kernerl operativnog sistema, i koristi mogućnosti linux OS-a za izolaciju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16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cgroup, namespace i union file system</a:t>
            </a:r>
            <a:endParaRPr lang="en-US" sz="16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Nema konflikta između verzija softvera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Još bolja iskorištenost hardvera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Problem na jednoj APP ne utiče na druge APP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Još brže restartovanje sistema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Još lakša instalacija na novi hardver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1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Manji sistemski resursi u donosu na VM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8" name="Picture 2" descr="Bare metal diagram"/>
          <p:cNvPicPr/>
          <p:nvPr/>
        </p:nvPicPr>
        <p:blipFill>
          <a:blip r:embed="rId2"/>
          <a:stretch/>
        </p:blipFill>
        <p:spPr>
          <a:xfrm>
            <a:off x="6067440" y="1071720"/>
            <a:ext cx="5282640" cy="471384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062BB0B2-F9B0-495F-9BD5-34E5893488A9}" type="slidenum"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Instalacija Docker engine-a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Ispratite instrukcije za vaš OS na  </a:t>
            </a:r>
            <a:r>
              <a:rPr lang="en-GB" sz="2800" b="0" u="sng" strike="noStrike" spc="-1">
                <a:solidFill>
                  <a:schemeClr val="dk1"/>
                </a:solidFill>
                <a:uFillTx/>
                <a:latin typeface="Aptos"/>
                <a:hlinkClick r:id="rId2"/>
              </a:rPr>
              <a:t>Install | Docker Docs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Možete da instalirate docker i na linux virtuelnoj mašini koju ste koristili za prvi dio kursa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5347731C-3653-4676-A6ED-E23A886CF262}" type="slidenum"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400" b="0" strike="noStrike" spc="-1">
                <a:solidFill>
                  <a:schemeClr val="dk1"/>
                </a:solidFill>
                <a:latin typeface="Aptos Display"/>
              </a:rPr>
              <a:t>Pokretanje docker containera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Aptos"/>
              </a:rPr>
              <a:t> 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docker run --interactive --</a:t>
            </a:r>
            <a:r>
              <a:rPr lang="en-GB" sz="2800" b="0" strike="noStrike" spc="-1">
                <a:solidFill>
                  <a:srgbClr val="E6C07B"/>
                </a:solidFill>
                <a:latin typeface="ui-monospace"/>
              </a:rPr>
              <a:t>tty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--</a:t>
            </a:r>
            <a:r>
              <a:rPr lang="en-GB" sz="2800" b="0" strike="noStrike" spc="-1">
                <a:solidFill>
                  <a:srgbClr val="E6C07B"/>
                </a:solidFill>
                <a:latin typeface="ui-monospace"/>
              </a:rPr>
              <a:t>rm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ubuntu:22.04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strike="noStrike" spc="-1">
                <a:solidFill>
                  <a:schemeClr val="dk1"/>
                </a:solidFill>
                <a:latin typeface="Aptos"/>
              </a:rPr>
              <a:t> 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docker </a:t>
            </a:r>
            <a:r>
              <a:rPr lang="sr-Latn-RS" sz="2800" b="0" strike="noStrike" spc="-1">
                <a:solidFill>
                  <a:srgbClr val="ABB2BF"/>
                </a:solidFill>
                <a:latin typeface="ui-monospace"/>
              </a:rPr>
              <a:t>ps --all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Right Brace 3"/>
          <p:cNvSpPr/>
          <p:nvPr/>
        </p:nvSpPr>
        <p:spPr>
          <a:xfrm rot="5400000">
            <a:off x="3995280" y="1058760"/>
            <a:ext cx="271800" cy="2549520"/>
          </a:xfrm>
          <a:prstGeom prst="rightBrace">
            <a:avLst>
              <a:gd name="adj1" fmla="val 8333"/>
              <a:gd name="adj2" fmla="val 50000"/>
            </a:avLst>
          </a:prstGeom>
          <a:noFill/>
          <a:ln>
            <a:solidFill>
              <a:srgbClr val="1560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dk1"/>
              </a:solidFill>
              <a:latin typeface="Aptos"/>
            </a:endParaRPr>
          </a:p>
        </p:txBody>
      </p:sp>
      <p:cxnSp>
        <p:nvCxnSpPr>
          <p:cNvPr id="84" name="Straight Arrow Connector 5"/>
          <p:cNvCxnSpPr/>
          <p:nvPr/>
        </p:nvCxnSpPr>
        <p:spPr>
          <a:xfrm flipH="1">
            <a:off x="3602880" y="2470320"/>
            <a:ext cx="504720" cy="1016280"/>
          </a:xfrm>
          <a:prstGeom prst="straightConnector1">
            <a:avLst/>
          </a:prstGeom>
          <a:ln w="0">
            <a:solidFill>
              <a:srgbClr val="156082"/>
            </a:solidFill>
            <a:tailEnd type="triangle" w="med" len="med"/>
          </a:ln>
        </p:spPr>
      </p:cxnSp>
      <p:sp>
        <p:nvSpPr>
          <p:cNvPr id="85" name="TextBox 6"/>
          <p:cNvSpPr/>
          <p:nvPr/>
        </p:nvSpPr>
        <p:spPr>
          <a:xfrm>
            <a:off x="2250000" y="3620520"/>
            <a:ext cx="38617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sr-Latn-RS" sz="1800" b="0" strike="noStrike" spc="-1">
                <a:solidFill>
                  <a:schemeClr val="dk1"/>
                </a:solidFill>
                <a:latin typeface="Aptos"/>
              </a:rPr>
              <a:t>Želimo interaktivni shell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sr-Latn-RS" sz="1800" b="0" strike="noStrike" spc="-1">
                <a:solidFill>
                  <a:schemeClr val="dk1"/>
                </a:solidFill>
                <a:latin typeface="Aptos"/>
              </a:rPr>
              <a:t>Unutar kontejnera koji pokrecemo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ight Brace 7"/>
          <p:cNvSpPr/>
          <p:nvPr/>
        </p:nvSpPr>
        <p:spPr>
          <a:xfrm rot="5400000">
            <a:off x="5667840" y="2052360"/>
            <a:ext cx="271800" cy="584280"/>
          </a:xfrm>
          <a:prstGeom prst="rightBrace">
            <a:avLst>
              <a:gd name="adj1" fmla="val 8333"/>
              <a:gd name="adj2" fmla="val 50000"/>
            </a:avLst>
          </a:prstGeom>
          <a:noFill/>
          <a:ln>
            <a:solidFill>
              <a:srgbClr val="1560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dk1"/>
              </a:solidFill>
              <a:latin typeface="Aptos"/>
            </a:endParaRPr>
          </a:p>
        </p:txBody>
      </p:sp>
      <p:cxnSp>
        <p:nvCxnSpPr>
          <p:cNvPr id="87" name="Straight Arrow Connector 8"/>
          <p:cNvCxnSpPr>
            <a:stCxn id="86" idx="1"/>
          </p:cNvCxnSpPr>
          <p:nvPr/>
        </p:nvCxnSpPr>
        <p:spPr>
          <a:xfrm>
            <a:off x="5803920" y="2208600"/>
            <a:ext cx="1238040" cy="1100880"/>
          </a:xfrm>
          <a:prstGeom prst="straightConnector1">
            <a:avLst/>
          </a:prstGeom>
          <a:ln w="0">
            <a:solidFill>
              <a:srgbClr val="156082"/>
            </a:solidFill>
            <a:tailEnd type="triangle" w="med" len="med"/>
          </a:ln>
        </p:spPr>
      </p:cxnSp>
      <p:sp>
        <p:nvSpPr>
          <p:cNvPr id="88" name="TextBox 11"/>
          <p:cNvSpPr/>
          <p:nvPr/>
        </p:nvSpPr>
        <p:spPr>
          <a:xfrm>
            <a:off x="5895000" y="3528000"/>
            <a:ext cx="285480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sr-Latn-RS" sz="1800" b="0" strike="noStrike" spc="-1">
                <a:solidFill>
                  <a:schemeClr val="dk1"/>
                </a:solidFill>
                <a:latin typeface="Aptos"/>
              </a:rPr>
              <a:t>Kad zaustavimo konterjner obriši ga, ne čuvaj ga na disku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Right Brace 12"/>
          <p:cNvSpPr/>
          <p:nvPr/>
        </p:nvSpPr>
        <p:spPr>
          <a:xfrm rot="5400000">
            <a:off x="6972120" y="1398960"/>
            <a:ext cx="271800" cy="1913760"/>
          </a:xfrm>
          <a:prstGeom prst="rightBrace">
            <a:avLst>
              <a:gd name="adj1" fmla="val 8333"/>
              <a:gd name="adj2" fmla="val 50000"/>
            </a:avLst>
          </a:prstGeom>
          <a:noFill/>
          <a:ln>
            <a:solidFill>
              <a:srgbClr val="1560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dk1"/>
              </a:solidFill>
              <a:latin typeface="Aptos"/>
            </a:endParaRPr>
          </a:p>
        </p:txBody>
      </p:sp>
      <p:cxnSp>
        <p:nvCxnSpPr>
          <p:cNvPr id="90" name="Straight Arrow Connector 14"/>
          <p:cNvCxnSpPr>
            <a:stCxn id="89" idx="1"/>
          </p:cNvCxnSpPr>
          <p:nvPr/>
        </p:nvCxnSpPr>
        <p:spPr>
          <a:xfrm>
            <a:off x="7108200" y="2220120"/>
            <a:ext cx="3033360" cy="1308600"/>
          </a:xfrm>
          <a:prstGeom prst="straightConnector1">
            <a:avLst/>
          </a:prstGeom>
          <a:ln w="0">
            <a:solidFill>
              <a:srgbClr val="156082"/>
            </a:solidFill>
            <a:tailEnd type="triangle" w="med" len="med"/>
          </a:ln>
        </p:spPr>
      </p:cxnSp>
      <p:sp>
        <p:nvSpPr>
          <p:cNvPr id="91" name="TextBox 16"/>
          <p:cNvSpPr/>
          <p:nvPr/>
        </p:nvSpPr>
        <p:spPr>
          <a:xfrm>
            <a:off x="9172800" y="3539520"/>
            <a:ext cx="285480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sr-Latn-RS" sz="1800" b="0" strike="noStrike" spc="-1">
                <a:solidFill>
                  <a:schemeClr val="dk1"/>
                </a:solidFill>
                <a:latin typeface="Aptos"/>
              </a:rPr>
              <a:t>Docker slika od koje želimo da napravimo konterjner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Right Brace 17"/>
          <p:cNvSpPr/>
          <p:nvPr/>
        </p:nvSpPr>
        <p:spPr>
          <a:xfrm rot="5400000">
            <a:off x="1899000" y="1617480"/>
            <a:ext cx="271800" cy="1432440"/>
          </a:xfrm>
          <a:prstGeom prst="rightBrace">
            <a:avLst>
              <a:gd name="adj1" fmla="val 8333"/>
              <a:gd name="adj2" fmla="val 50000"/>
            </a:avLst>
          </a:prstGeom>
          <a:noFill/>
          <a:ln>
            <a:solidFill>
              <a:srgbClr val="1560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93" name="TextBox 18"/>
          <p:cNvSpPr/>
          <p:nvPr/>
        </p:nvSpPr>
        <p:spPr>
          <a:xfrm>
            <a:off x="70200" y="3605040"/>
            <a:ext cx="24944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Nardba za pokretanje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Docker kontejenra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4" name="Straight Arrow Connector 19"/>
          <p:cNvCxnSpPr>
            <a:stCxn id="92" idx="1"/>
            <a:endCxn id="93" idx="0"/>
          </p:cNvCxnSpPr>
          <p:nvPr/>
        </p:nvCxnSpPr>
        <p:spPr>
          <a:xfrm flipH="1">
            <a:off x="1317240" y="2197800"/>
            <a:ext cx="718200" cy="1407600"/>
          </a:xfrm>
          <a:prstGeom prst="straightConnector1">
            <a:avLst/>
          </a:prstGeom>
          <a:ln w="0">
            <a:solidFill>
              <a:srgbClr val="156082"/>
            </a:solidFill>
            <a:tailEnd type="triangle" w="med" len="med"/>
          </a:ln>
        </p:spPr>
      </p:cxnSp>
      <p:sp>
        <p:nvSpPr>
          <p:cNvPr id="95" name="Right Brace 25"/>
          <p:cNvSpPr/>
          <p:nvPr/>
        </p:nvSpPr>
        <p:spPr>
          <a:xfrm rot="5400000">
            <a:off x="1797840" y="4159440"/>
            <a:ext cx="271800" cy="1432440"/>
          </a:xfrm>
          <a:prstGeom prst="rightBrace">
            <a:avLst>
              <a:gd name="adj1" fmla="val 8333"/>
              <a:gd name="adj2" fmla="val 50000"/>
            </a:avLst>
          </a:prstGeom>
          <a:noFill/>
          <a:ln>
            <a:solidFill>
              <a:srgbClr val="1560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dk1"/>
              </a:solidFill>
              <a:latin typeface="Aptos"/>
            </a:endParaRPr>
          </a:p>
        </p:txBody>
      </p:sp>
      <p:cxnSp>
        <p:nvCxnSpPr>
          <p:cNvPr id="96" name="Straight Arrow Connector 26"/>
          <p:cNvCxnSpPr/>
          <p:nvPr/>
        </p:nvCxnSpPr>
        <p:spPr>
          <a:xfrm flipH="1">
            <a:off x="1901520" y="5012280"/>
            <a:ext cx="32760" cy="568440"/>
          </a:xfrm>
          <a:prstGeom prst="straightConnector1">
            <a:avLst/>
          </a:prstGeom>
          <a:ln w="0">
            <a:solidFill>
              <a:srgbClr val="156082"/>
            </a:solidFill>
            <a:tailEnd type="triangle" w="med" len="med"/>
          </a:ln>
        </p:spPr>
      </p:cxnSp>
      <p:sp>
        <p:nvSpPr>
          <p:cNvPr id="97" name="TextBox 27"/>
          <p:cNvSpPr/>
          <p:nvPr/>
        </p:nvSpPr>
        <p:spPr>
          <a:xfrm>
            <a:off x="490320" y="5598000"/>
            <a:ext cx="34988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Nardba za prikazivanje Docker 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kontejnera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Right Brace 29"/>
          <p:cNvSpPr/>
          <p:nvPr/>
        </p:nvSpPr>
        <p:spPr>
          <a:xfrm rot="5400000">
            <a:off x="2874240" y="4583520"/>
            <a:ext cx="271800" cy="584280"/>
          </a:xfrm>
          <a:prstGeom prst="rightBrace">
            <a:avLst>
              <a:gd name="adj1" fmla="val 8333"/>
              <a:gd name="adj2" fmla="val 50000"/>
            </a:avLst>
          </a:prstGeom>
          <a:noFill/>
          <a:ln>
            <a:solidFill>
              <a:srgbClr val="1560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dk1"/>
              </a:solidFill>
              <a:latin typeface="Aptos"/>
            </a:endParaRPr>
          </a:p>
        </p:txBody>
      </p:sp>
      <p:cxnSp>
        <p:nvCxnSpPr>
          <p:cNvPr id="99" name="Straight Arrow Connector 30"/>
          <p:cNvCxnSpPr/>
          <p:nvPr/>
        </p:nvCxnSpPr>
        <p:spPr>
          <a:xfrm>
            <a:off x="3000240" y="5012280"/>
            <a:ext cx="855720" cy="568440"/>
          </a:xfrm>
          <a:prstGeom prst="straightConnector1">
            <a:avLst/>
          </a:prstGeom>
          <a:ln w="0">
            <a:solidFill>
              <a:srgbClr val="156082"/>
            </a:solidFill>
            <a:tailEnd type="triangle" w="med" len="med"/>
          </a:ln>
        </p:spPr>
      </p:cxnSp>
      <p:sp>
        <p:nvSpPr>
          <p:cNvPr id="100" name="TextBox 32"/>
          <p:cNvSpPr/>
          <p:nvPr/>
        </p:nvSpPr>
        <p:spPr>
          <a:xfrm>
            <a:off x="3936600" y="5322960"/>
            <a:ext cx="285480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GB" sz="1800" b="0" strike="noStrike" spc="-1">
                <a:solidFill>
                  <a:schemeClr val="dk1"/>
                </a:solidFill>
                <a:latin typeface="Aptos"/>
              </a:rPr>
              <a:t>Da se prika</a:t>
            </a:r>
            <a:r>
              <a:rPr lang="sr-Latn-RS" sz="1800" b="0" strike="noStrike" spc="-1">
                <a:solidFill>
                  <a:schemeClr val="dk1"/>
                </a:solidFill>
                <a:latin typeface="Aptos"/>
              </a:rPr>
              <a:t>žu i kontejneri koji su zaustavljeni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B7E831B5-8EBF-4030-A581-12B13F92F027}" type="slidenum"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400" b="0" strike="noStrike" spc="-1">
                <a:solidFill>
                  <a:schemeClr val="dk1"/>
                </a:solidFill>
                <a:latin typeface="Aptos Display"/>
              </a:rPr>
              <a:t>Pokretanje docker containera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7222" lnSpcReduction="1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</a:pPr>
            <a:r>
              <a:rPr lang="nl-NL" sz="2800" b="0" strike="noStrike" spc="-1">
                <a:solidFill>
                  <a:srgbClr val="ABB2BF"/>
                </a:solidFill>
                <a:latin typeface="ui-monospace"/>
              </a:rPr>
              <a:t>ping google.com -c 1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sr-Latn-RS" sz="2800" b="0" strike="noStrike" spc="-1">
                <a:solidFill>
                  <a:srgbClr val="ABB2BF"/>
                </a:solidFill>
                <a:latin typeface="ui-monospace"/>
              </a:rPr>
              <a:t>apt update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sr-Latn-RS" sz="2800" b="0" strike="noStrike" spc="-1">
                <a:solidFill>
                  <a:srgbClr val="ABB2BF"/>
                </a:solidFill>
                <a:latin typeface="ui-monospace"/>
              </a:rPr>
              <a:t>apt install 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iputils-ping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sr-Latn-RS" sz="2800" b="0" strike="noStrike" spc="-1">
                <a:solidFill>
                  <a:srgbClr val="ABB2BF"/>
                </a:solidFill>
                <a:latin typeface="ui-monospace"/>
              </a:rPr>
              <a:t>exit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3" name="Straight Arrow Connector 5"/>
          <p:cNvCxnSpPr/>
          <p:nvPr/>
        </p:nvCxnSpPr>
        <p:spPr>
          <a:xfrm>
            <a:off x="4196880" y="2075400"/>
            <a:ext cx="3401280" cy="1080"/>
          </a:xfrm>
          <a:prstGeom prst="straightConnector1">
            <a:avLst/>
          </a:prstGeom>
          <a:ln w="0">
            <a:solidFill>
              <a:srgbClr val="156082"/>
            </a:solidFill>
            <a:tailEnd type="triangle" w="med" len="med"/>
          </a:ln>
        </p:spPr>
      </p:cxnSp>
      <p:sp>
        <p:nvSpPr>
          <p:cNvPr id="104" name="TextBox 7"/>
          <p:cNvSpPr/>
          <p:nvPr/>
        </p:nvSpPr>
        <p:spPr>
          <a:xfrm>
            <a:off x="7580880" y="1590120"/>
            <a:ext cx="388764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sr-Latn-RS" sz="1800" b="0" strike="noStrike" spc="-1">
                <a:solidFill>
                  <a:schemeClr val="dk1"/>
                </a:solidFill>
                <a:latin typeface="Aptos"/>
              </a:rPr>
              <a:t>Aplikacija za provjeru da 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sr-Latn-RS" sz="1800" b="0" strike="noStrike" spc="-1">
                <a:solidFill>
                  <a:schemeClr val="dk1"/>
                </a:solidFill>
                <a:latin typeface="Aptos"/>
              </a:rPr>
              <a:t>li postoji data adresa u mreži i da li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sr-Latn-RS" sz="1800" b="0" strike="noStrike" spc="-1">
                <a:solidFill>
                  <a:schemeClr val="dk1"/>
                </a:solidFill>
                <a:latin typeface="Aptos"/>
              </a:rPr>
              <a:t>može da joj se pristupi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5" name="Straight Arrow Connector 9"/>
          <p:cNvCxnSpPr/>
          <p:nvPr/>
        </p:nvCxnSpPr>
        <p:spPr>
          <a:xfrm>
            <a:off x="2752560" y="3223800"/>
            <a:ext cx="4799160" cy="1080"/>
          </a:xfrm>
          <a:prstGeom prst="straightConnector1">
            <a:avLst/>
          </a:prstGeom>
          <a:ln w="0">
            <a:solidFill>
              <a:srgbClr val="156082"/>
            </a:solidFill>
            <a:tailEnd type="triangle" w="med" len="med"/>
          </a:ln>
        </p:spPr>
      </p:cxnSp>
      <p:sp>
        <p:nvSpPr>
          <p:cNvPr id="106" name="TextBox 11"/>
          <p:cNvSpPr/>
          <p:nvPr/>
        </p:nvSpPr>
        <p:spPr>
          <a:xfrm>
            <a:off x="7501680" y="2759400"/>
            <a:ext cx="450036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sr-Latn-RS" sz="1800" b="0" strike="noStrike" spc="-1">
                <a:solidFill>
                  <a:schemeClr val="dk1"/>
                </a:solidFill>
                <a:latin typeface="Aptos"/>
              </a:rPr>
              <a:t>Updatovanje repositorijuma sa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sr-Latn-RS" sz="1800" b="0" strike="noStrike" spc="-1">
                <a:solidFill>
                  <a:schemeClr val="dk1"/>
                </a:solidFill>
                <a:latin typeface="Aptos"/>
              </a:rPr>
              <a:t>aplikacijama koje mogu da se instaliraju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sr-Latn-RS" sz="1800" b="0" strike="noStrike" spc="-1">
                <a:solidFill>
                  <a:schemeClr val="dk1"/>
                </a:solidFill>
                <a:latin typeface="Aptos"/>
              </a:rPr>
              <a:t>na Debian based operativnim sistemima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7" name="Straight Arrow Connector 13"/>
          <p:cNvCxnSpPr/>
          <p:nvPr/>
        </p:nvCxnSpPr>
        <p:spPr>
          <a:xfrm>
            <a:off x="4119480" y="4451040"/>
            <a:ext cx="3357000" cy="1080"/>
          </a:xfrm>
          <a:prstGeom prst="straightConnector1">
            <a:avLst/>
          </a:prstGeom>
          <a:ln w="0">
            <a:solidFill>
              <a:srgbClr val="156082"/>
            </a:solidFill>
            <a:tailEnd type="triangle" w="med" len="med"/>
          </a:ln>
        </p:spPr>
      </p:cxnSp>
      <p:sp>
        <p:nvSpPr>
          <p:cNvPr id="108" name="TextBox 20"/>
          <p:cNvSpPr/>
          <p:nvPr/>
        </p:nvSpPr>
        <p:spPr>
          <a:xfrm>
            <a:off x="7533720" y="4266720"/>
            <a:ext cx="29775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sr-Latn-RS" sz="1800" b="0" strike="noStrike" spc="-1">
                <a:solidFill>
                  <a:schemeClr val="dk1"/>
                </a:solidFill>
                <a:latin typeface="Aptos"/>
              </a:rPr>
              <a:t>Instaliranje aplikacije ping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9" name="Straight Arrow Connector 24"/>
          <p:cNvCxnSpPr/>
          <p:nvPr/>
        </p:nvCxnSpPr>
        <p:spPr>
          <a:xfrm>
            <a:off x="1960560" y="5599440"/>
            <a:ext cx="5591160" cy="1080"/>
          </a:xfrm>
          <a:prstGeom prst="straightConnector1">
            <a:avLst/>
          </a:prstGeom>
          <a:ln w="0">
            <a:solidFill>
              <a:srgbClr val="156082"/>
            </a:solidFill>
            <a:tailEnd type="triangle" w="med" len="med"/>
          </a:ln>
        </p:spPr>
      </p:cxnSp>
      <p:sp>
        <p:nvSpPr>
          <p:cNvPr id="110" name="TextBox 26"/>
          <p:cNvSpPr/>
          <p:nvPr/>
        </p:nvSpPr>
        <p:spPr>
          <a:xfrm>
            <a:off x="7574760" y="5392800"/>
            <a:ext cx="366192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sr-Latn-RS" sz="1800" b="0" strike="noStrike" spc="-1">
                <a:solidFill>
                  <a:schemeClr val="dk1"/>
                </a:solidFill>
                <a:latin typeface="Aptos"/>
              </a:rPr>
              <a:t>Zatvaranje terminala. Zaustavice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sr-Latn-RS" sz="1800" b="0" strike="noStrike" spc="-1">
                <a:solidFill>
                  <a:schemeClr val="dk1"/>
                </a:solidFill>
                <a:latin typeface="Aptos"/>
              </a:rPr>
              <a:t>i kontejenr u kojem se nalazimo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01F13B5B-8954-4A80-8776-1916CCF606CF}" type="slidenum"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400" b="0" strike="noStrike" spc="-1">
                <a:solidFill>
                  <a:schemeClr val="dk1"/>
                </a:solidFill>
                <a:latin typeface="Aptos Display"/>
              </a:rPr>
              <a:t>Pokretanje docker containera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838080" y="173988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Kad zaustavimo docker kontejenr, sve što smo ranije instalirali i fajlovi koje smo kreirali u tom kontejneru biće obrisani.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3" name="Picture 2"/>
          <p:cNvPicPr/>
          <p:nvPr/>
        </p:nvPicPr>
        <p:blipFill>
          <a:blip r:embed="rId2"/>
          <a:srcRect r="40743"/>
          <a:stretch/>
        </p:blipFill>
        <p:spPr>
          <a:xfrm>
            <a:off x="2762280" y="2712240"/>
            <a:ext cx="3948840" cy="3304080"/>
          </a:xfrm>
          <a:prstGeom prst="rect">
            <a:avLst/>
          </a:prstGeom>
          <a:ln w="0">
            <a:noFill/>
          </a:ln>
        </p:spPr>
      </p:pic>
      <p:pic>
        <p:nvPicPr>
          <p:cNvPr id="114" name="Picture 7"/>
          <p:cNvPicPr/>
          <p:nvPr/>
        </p:nvPicPr>
        <p:blipFill>
          <a:blip r:embed="rId3"/>
          <a:stretch/>
        </p:blipFill>
        <p:spPr>
          <a:xfrm>
            <a:off x="8242920" y="2657160"/>
            <a:ext cx="1542240" cy="1019520"/>
          </a:xfrm>
          <a:prstGeom prst="rect">
            <a:avLst/>
          </a:prstGeom>
          <a:ln w="0">
            <a:noFill/>
          </a:ln>
        </p:spPr>
      </p:pic>
      <p:pic>
        <p:nvPicPr>
          <p:cNvPr id="115" name="Picture 8"/>
          <p:cNvPicPr/>
          <p:nvPr/>
        </p:nvPicPr>
        <p:blipFill>
          <a:blip r:embed="rId3"/>
          <a:stretch/>
        </p:blipFill>
        <p:spPr>
          <a:xfrm>
            <a:off x="8271000" y="3854520"/>
            <a:ext cx="1542240" cy="1019520"/>
          </a:xfrm>
          <a:prstGeom prst="rect">
            <a:avLst/>
          </a:prstGeom>
          <a:ln w="0">
            <a:noFill/>
          </a:ln>
        </p:spPr>
      </p:pic>
      <p:pic>
        <p:nvPicPr>
          <p:cNvPr id="116" name="Picture 9"/>
          <p:cNvPicPr/>
          <p:nvPr/>
        </p:nvPicPr>
        <p:blipFill>
          <a:blip r:embed="rId3"/>
          <a:stretch/>
        </p:blipFill>
        <p:spPr>
          <a:xfrm>
            <a:off x="8332920" y="5122440"/>
            <a:ext cx="1542240" cy="1019520"/>
          </a:xfrm>
          <a:prstGeom prst="rect">
            <a:avLst/>
          </a:prstGeom>
          <a:ln w="0">
            <a:noFill/>
          </a:ln>
        </p:spPr>
      </p:pic>
      <p:cxnSp>
        <p:nvCxnSpPr>
          <p:cNvPr id="117" name="Straight Arrow Connector 11"/>
          <p:cNvCxnSpPr>
            <a:stCxn id="113" idx="3"/>
            <a:endCxn id="114" idx="1"/>
          </p:cNvCxnSpPr>
          <p:nvPr/>
        </p:nvCxnSpPr>
        <p:spPr>
          <a:xfrm flipV="1">
            <a:off x="6711120" y="3166920"/>
            <a:ext cx="1532160" cy="1197720"/>
          </a:xfrm>
          <a:prstGeom prst="straightConnector1">
            <a:avLst/>
          </a:prstGeom>
          <a:ln w="0">
            <a:solidFill>
              <a:srgbClr val="156082"/>
            </a:solidFill>
            <a:tailEnd type="triangle" w="med" len="med"/>
          </a:ln>
        </p:spPr>
      </p:cxnSp>
      <p:cxnSp>
        <p:nvCxnSpPr>
          <p:cNvPr id="118" name="Straight Arrow Connector 13"/>
          <p:cNvCxnSpPr>
            <a:stCxn id="113" idx="3"/>
            <a:endCxn id="115" idx="1"/>
          </p:cNvCxnSpPr>
          <p:nvPr/>
        </p:nvCxnSpPr>
        <p:spPr>
          <a:xfrm>
            <a:off x="6711120" y="4364280"/>
            <a:ext cx="1560240" cy="360"/>
          </a:xfrm>
          <a:prstGeom prst="straightConnector1">
            <a:avLst/>
          </a:prstGeom>
          <a:ln w="0">
            <a:solidFill>
              <a:srgbClr val="156082"/>
            </a:solidFill>
            <a:tailEnd type="triangle" w="med" len="med"/>
          </a:ln>
        </p:spPr>
      </p:cxnSp>
      <p:cxnSp>
        <p:nvCxnSpPr>
          <p:cNvPr id="119" name="Straight Arrow Connector 15"/>
          <p:cNvCxnSpPr>
            <a:stCxn id="113" idx="3"/>
            <a:endCxn id="116" idx="1"/>
          </p:cNvCxnSpPr>
          <p:nvPr/>
        </p:nvCxnSpPr>
        <p:spPr>
          <a:xfrm>
            <a:off x="6711120" y="4364280"/>
            <a:ext cx="1622160" cy="1268280"/>
          </a:xfrm>
          <a:prstGeom prst="straightConnector1">
            <a:avLst/>
          </a:prstGeom>
          <a:ln w="0">
            <a:solidFill>
              <a:srgbClr val="156082"/>
            </a:solidFill>
            <a:tailEnd type="triangle" w="med" len="med"/>
          </a:ln>
        </p:spPr>
      </p:cxnSp>
      <p:sp>
        <p:nvSpPr>
          <p:cNvPr id="120" name="TextBox 16"/>
          <p:cNvSpPr/>
          <p:nvPr/>
        </p:nvSpPr>
        <p:spPr>
          <a:xfrm>
            <a:off x="7252200" y="5263200"/>
            <a:ext cx="6033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sr-Latn-RS" sz="1800" b="0" strike="noStrike" spc="-1">
                <a:solidFill>
                  <a:schemeClr val="dk1"/>
                </a:solidFill>
                <a:latin typeface="Aptos"/>
              </a:rPr>
              <a:t>Run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5387081A-5F6E-4EA4-8F66-F8C2D3D54B0C}" type="slidenum"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1641600"/>
            <a:ext cx="4389840" cy="132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000" b="0" strike="noStrike" spc="-1">
                <a:solidFill>
                  <a:schemeClr val="lt1"/>
                </a:solidFill>
                <a:latin typeface="Aptos Display"/>
              </a:rPr>
              <a:t>Fajl sistem kontejnera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838080" y="3146400"/>
            <a:ext cx="4389840" cy="263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Kontejner se kreira iz slike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Sve što je u slici se tretira kao read</a:t>
            </a:r>
            <a:r>
              <a:rPr lang="en-GB" sz="24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-only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Dodaje se samo novi sloj po kojem </a:t>
            </a:r>
            <a:r>
              <a:rPr lang="sr-Latn-RS" sz="24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će da se piše dok je kontejner aktivan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4" name="Picture 2" descr="Docker container filesystem diagram"/>
          <p:cNvPicPr/>
          <p:nvPr/>
        </p:nvPicPr>
        <p:blipFill>
          <a:blip r:embed="rId2"/>
          <a:stretch/>
        </p:blipFill>
        <p:spPr>
          <a:xfrm>
            <a:off x="6095880" y="1708200"/>
            <a:ext cx="5259960" cy="340200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C61B4E01-1057-433C-B532-584877FB4EB6}" type="slidenum"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Kontejner koji se čuva i nakon što se zaustavi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9166" lnSpcReduction="1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</a:pP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docker run -it --name my-ubuntu-container ubuntu:22.04 </a:t>
            </a:r>
            <a:br>
              <a:rPr sz="2800"/>
            </a:b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sr-Latn-RS" sz="2800" b="0" strike="noStrike" spc="-1">
                <a:solidFill>
                  <a:srgbClr val="ABB2BF"/>
                </a:solidFill>
                <a:latin typeface="ui-monospace"/>
              </a:rPr>
              <a:t>docker stop my-ubuntu-container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docker container ps -a | grep my-ubuntu-container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sr-Latn-RS" sz="2800" b="0" strike="noStrike" spc="-1">
                <a:solidFill>
                  <a:srgbClr val="ABB2BF"/>
                </a:solidFill>
                <a:latin typeface="ui-monospace"/>
              </a:rPr>
              <a:t>d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ocker container inspect my-ubuntu-container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docker start my-ubuntu-container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docker attach my-ubuntu-container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ight Brace 4"/>
          <p:cNvSpPr/>
          <p:nvPr/>
        </p:nvSpPr>
        <p:spPr>
          <a:xfrm rot="5400000">
            <a:off x="5156640" y="207360"/>
            <a:ext cx="279000" cy="4221000"/>
          </a:xfrm>
          <a:prstGeom prst="rightBrace">
            <a:avLst>
              <a:gd name="adj1" fmla="val 8333"/>
              <a:gd name="adj2" fmla="val 50000"/>
            </a:avLst>
          </a:prstGeom>
          <a:noFill/>
          <a:ln>
            <a:solidFill>
              <a:srgbClr val="1560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128" name="Right Brace 5"/>
          <p:cNvSpPr/>
          <p:nvPr/>
        </p:nvSpPr>
        <p:spPr>
          <a:xfrm rot="5400000">
            <a:off x="2860920" y="2071080"/>
            <a:ext cx="215280" cy="431640"/>
          </a:xfrm>
          <a:prstGeom prst="rightBrace">
            <a:avLst>
              <a:gd name="adj1" fmla="val 8333"/>
              <a:gd name="adj2" fmla="val 50000"/>
            </a:avLst>
          </a:prstGeom>
          <a:noFill/>
          <a:ln>
            <a:solidFill>
              <a:srgbClr val="1560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dk1"/>
              </a:solidFill>
              <a:latin typeface="Aptos"/>
            </a:endParaRPr>
          </a:p>
        </p:txBody>
      </p:sp>
      <p:cxnSp>
        <p:nvCxnSpPr>
          <p:cNvPr id="129" name="Straight Arrow Connector 7"/>
          <p:cNvCxnSpPr>
            <a:stCxn id="128" idx="1"/>
          </p:cNvCxnSpPr>
          <p:nvPr/>
        </p:nvCxnSpPr>
        <p:spPr>
          <a:xfrm flipH="1">
            <a:off x="2445840" y="2179440"/>
            <a:ext cx="523440" cy="969120"/>
          </a:xfrm>
          <a:prstGeom prst="straightConnector1">
            <a:avLst/>
          </a:prstGeom>
          <a:ln w="0">
            <a:solidFill>
              <a:srgbClr val="156082"/>
            </a:solidFill>
            <a:tailEnd type="triangle" w="med" len="med"/>
          </a:ln>
        </p:spPr>
      </p:cxnSp>
      <p:cxnSp>
        <p:nvCxnSpPr>
          <p:cNvPr id="130" name="Straight Arrow Connector 9"/>
          <p:cNvCxnSpPr>
            <a:stCxn id="127" idx="1"/>
          </p:cNvCxnSpPr>
          <p:nvPr/>
        </p:nvCxnSpPr>
        <p:spPr>
          <a:xfrm flipH="1">
            <a:off x="5295600" y="2178720"/>
            <a:ext cx="1080" cy="1002240"/>
          </a:xfrm>
          <a:prstGeom prst="straightConnector1">
            <a:avLst/>
          </a:prstGeom>
          <a:ln w="0">
            <a:solidFill>
              <a:srgbClr val="156082"/>
            </a:solidFill>
            <a:tailEnd type="triangle" w="med" len="med"/>
          </a:ln>
        </p:spPr>
      </p:cxnSp>
      <p:sp>
        <p:nvSpPr>
          <p:cNvPr id="131" name="TextBox 10"/>
          <p:cNvSpPr/>
          <p:nvPr/>
        </p:nvSpPr>
        <p:spPr>
          <a:xfrm>
            <a:off x="958680" y="3179880"/>
            <a:ext cx="29746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sr-Latn-RS" sz="1800" b="0" strike="noStrike" spc="-1">
                <a:solidFill>
                  <a:schemeClr val="dk1"/>
                </a:solidFill>
                <a:latin typeface="Aptos"/>
              </a:rPr>
              <a:t>Isto što i </a:t>
            </a:r>
            <a:r>
              <a:rPr lang="en-GB" sz="1800" b="0" strike="noStrike" spc="-1">
                <a:solidFill>
                  <a:srgbClr val="ABB2BF"/>
                </a:solidFill>
                <a:latin typeface="ui-monospace"/>
              </a:rPr>
              <a:t>--interactive --</a:t>
            </a:r>
            <a:r>
              <a:rPr lang="en-GB" sz="1800" b="0" strike="noStrike" spc="-1">
                <a:solidFill>
                  <a:srgbClr val="E6C07B"/>
                </a:solidFill>
                <a:latin typeface="ui-monospace"/>
              </a:rPr>
              <a:t>tty</a:t>
            </a:r>
            <a:r>
              <a:rPr lang="en-GB" sz="1800" b="0" strike="noStrike" spc="-1">
                <a:solidFill>
                  <a:srgbClr val="ABB2BF"/>
                </a:solidFill>
                <a:latin typeface="ui-monospace"/>
              </a:rPr>
              <a:t> 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Box 11"/>
          <p:cNvSpPr/>
          <p:nvPr/>
        </p:nvSpPr>
        <p:spPr>
          <a:xfrm>
            <a:off x="3865680" y="3179880"/>
            <a:ext cx="467244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sr-Latn-RS" sz="1800" b="0" strike="noStrike" spc="-1">
                <a:solidFill>
                  <a:schemeClr val="dk1"/>
                </a:solidFill>
                <a:latin typeface="Aptos"/>
              </a:rPr>
              <a:t>Dajemo ime kontejneru, 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sr-Latn-RS" sz="1800" b="0" strike="noStrike" spc="-1">
                <a:solidFill>
                  <a:schemeClr val="dk1"/>
                </a:solidFill>
                <a:latin typeface="Aptos"/>
              </a:rPr>
              <a:t>ako ne damo ime koristiće se random ime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9D7E5921-38B3-4F79-A105-605FDB5ACBF1}" type="slidenum"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Kreiranje docker slike sa instaliranim softverom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3333" lnSpcReduction="2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D0D0D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chemeClr val="dk1">
                    <a:lumMod val="95000"/>
                    <a:lumOff val="5000"/>
                  </a:schemeClr>
                </a:solidFill>
                <a:latin typeface="ui-monospace"/>
              </a:rPr>
              <a:t>Možemo da kriramo novu docker sliku iz postojeće i da joj dodamo sve što je nama potrebno.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</a:pP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docker build --tag my-ubuntu-image -&lt;&lt;</a:t>
            </a:r>
            <a:r>
              <a:rPr lang="en-GB" sz="2800" b="0" strike="noStrike" spc="-1">
                <a:solidFill>
                  <a:srgbClr val="98C379"/>
                </a:solidFill>
                <a:latin typeface="ui-monospace"/>
              </a:rPr>
              <a:t>EOF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sr-Latn-RS" sz="2800" b="0" strike="noStrike" spc="-1">
                <a:solidFill>
                  <a:srgbClr val="98C379"/>
                </a:solidFill>
                <a:latin typeface="ui-monospace"/>
              </a:rPr>
              <a:t>   </a:t>
            </a:r>
            <a:r>
              <a:rPr lang="en-GB" sz="2800" b="0" strike="noStrike" spc="-1">
                <a:solidFill>
                  <a:srgbClr val="98C379"/>
                </a:solidFill>
                <a:latin typeface="ui-monospace"/>
              </a:rPr>
              <a:t>FROM ubuntu:22.04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sr-Latn-RS" sz="2800" b="0" strike="noStrike" spc="-1">
                <a:solidFill>
                  <a:srgbClr val="98C379"/>
                </a:solidFill>
                <a:latin typeface="ui-monospace"/>
              </a:rPr>
              <a:t>   </a:t>
            </a:r>
            <a:r>
              <a:rPr lang="en-GB" sz="2800" b="0" strike="noStrike" spc="-1">
                <a:solidFill>
                  <a:srgbClr val="98C379"/>
                </a:solidFill>
                <a:latin typeface="ui-monospace"/>
              </a:rPr>
              <a:t>RUN apt update &amp;&amp; apt install iputils-ping --yes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sr-Latn-RS" sz="2800" b="0" strike="noStrike" spc="-1">
                <a:solidFill>
                  <a:srgbClr val="98C379"/>
                </a:solidFill>
                <a:latin typeface="ui-monospace"/>
              </a:rPr>
              <a:t>   </a:t>
            </a:r>
            <a:r>
              <a:rPr lang="en-GB" sz="2800" b="0" strike="noStrike" spc="-1">
                <a:solidFill>
                  <a:srgbClr val="98C379"/>
                </a:solidFill>
                <a:latin typeface="ui-monospace"/>
              </a:rPr>
              <a:t>EOF</a:t>
            </a:r>
            <a:r>
              <a:rPr lang="sr-Latn-RS" sz="2800" b="0" strike="noStrike" spc="-1">
                <a:solidFill>
                  <a:srgbClr val="98C379"/>
                </a:solidFill>
                <a:latin typeface="ui-monospace"/>
              </a:rPr>
              <a:t> 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C637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i="1" strike="noStrike" spc="-1">
                <a:solidFill>
                  <a:srgbClr val="5C6370"/>
                </a:solidFill>
                <a:latin typeface="ui-monospace"/>
              </a:rPr>
              <a:t># Run a container based on that image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docker run -it --</a:t>
            </a:r>
            <a:r>
              <a:rPr lang="en-GB" sz="2800" b="0" strike="noStrike" spc="-1">
                <a:solidFill>
                  <a:srgbClr val="E6C07B"/>
                </a:solidFill>
                <a:latin typeface="ui-monospace"/>
              </a:rPr>
              <a:t>rm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my-ubuntu-image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C637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i="1" strike="noStrike" spc="-1">
                <a:solidFill>
                  <a:srgbClr val="5C6370"/>
                </a:solidFill>
                <a:latin typeface="ui-monospace"/>
              </a:rPr>
              <a:t># Confirm that ping was pre-installed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ping google.com -c 1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peech Bubble: Oval 4"/>
          <p:cNvSpPr/>
          <p:nvPr/>
        </p:nvSpPr>
        <p:spPr>
          <a:xfrm>
            <a:off x="6510600" y="2130480"/>
            <a:ext cx="2193480" cy="1297440"/>
          </a:xfrm>
          <a:prstGeom prst="wedgeEllipseCallout">
            <a:avLst>
              <a:gd name="adj1" fmla="val -61250"/>
              <a:gd name="adj2" fmla="val 22359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sr-Latn-RS" sz="1800" b="0" strike="noStrike" spc="-1">
                <a:solidFill>
                  <a:schemeClr val="lt1"/>
                </a:solidFill>
                <a:latin typeface="Aptos"/>
              </a:rPr>
              <a:t>Bitno je da se ovako napise as novim redovima.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BAED7ECF-5F42-4599-9ADD-2DDB6CA78104}" type="slidenum"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Podaci u docker kontejneru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Svi podaci koje kreiramo u docker kontejneru se brišu nakon zaustavljanja kontejnera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dk1"/>
                </a:solidFill>
                <a:latin typeface="Aptos"/>
              </a:rPr>
              <a:t>Briše se ContainerLayer koji služi za pisanje dok je container aktivan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Potrebno je da povežemo neki folder iz host os tako da se on prikazuje u dokcer containeru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BDFD1C2B-80AE-479A-834A-80FC0B3767B7}" type="slidenum"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Podaci u docker kontejneru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277" lnSpcReduction="1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C6370"/>
              </a:buClr>
              <a:buFont typeface="Arial"/>
              <a:buChar char="•"/>
            </a:pPr>
            <a:r>
              <a:rPr lang="en-GB" sz="2800" b="0" i="1" strike="noStrike" spc="-1">
                <a:solidFill>
                  <a:srgbClr val="5C6370"/>
                </a:solidFill>
                <a:latin typeface="ui-monospace"/>
              </a:rPr>
              <a:t># Create a container from the ubuntu image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</a:pP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docker run -it --</a:t>
            </a:r>
            <a:r>
              <a:rPr lang="en-GB" sz="2800" b="0" strike="noStrike" spc="-1">
                <a:solidFill>
                  <a:srgbClr val="E6C07B"/>
                </a:solidFill>
                <a:latin typeface="ui-monospace"/>
              </a:rPr>
              <a:t>rm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ubuntu:22.04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C637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i="1" strike="noStrike" spc="-1">
                <a:solidFill>
                  <a:srgbClr val="5C6370"/>
                </a:solidFill>
                <a:latin typeface="ui-monospace"/>
              </a:rPr>
              <a:t># Make a directory and store a file in it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E6C07B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strike="noStrike" spc="-1">
                <a:solidFill>
                  <a:srgbClr val="E6C07B"/>
                </a:solidFill>
                <a:latin typeface="ui-monospace"/>
              </a:rPr>
              <a:t>mkdir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my-data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E6C07B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strike="noStrike" spc="-1">
                <a:solidFill>
                  <a:srgbClr val="E6C07B"/>
                </a:solidFill>
                <a:latin typeface="ui-monospace"/>
              </a:rPr>
              <a:t>echo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</a:t>
            </a:r>
            <a:r>
              <a:rPr lang="en-GB" sz="2800" b="0" strike="noStrike" spc="-1">
                <a:solidFill>
                  <a:srgbClr val="98C379"/>
                </a:solidFill>
                <a:latin typeface="ui-monospace"/>
              </a:rPr>
              <a:t>"Hello from the container!"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&gt; /my-data/hello.txt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C637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i="1" strike="noStrike" spc="-1">
                <a:solidFill>
                  <a:srgbClr val="5C6370"/>
                </a:solidFill>
                <a:latin typeface="ui-monospace"/>
              </a:rPr>
              <a:t># Confirm the file exists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E6C07B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strike="noStrike" spc="-1">
                <a:solidFill>
                  <a:srgbClr val="E6C07B"/>
                </a:solidFill>
                <a:latin typeface="ui-monospace"/>
              </a:rPr>
              <a:t>cat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my-data/hello.txt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E6C07B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strike="noStrike" spc="-1">
                <a:solidFill>
                  <a:srgbClr val="E6C07B"/>
                </a:solidFill>
                <a:latin typeface="ui-monospace"/>
              </a:rPr>
              <a:t>exit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98C272B4-DAF2-49B1-AE98-90E9D58AD61F}" type="slidenum"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Podaci u docker kontejneru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C6370"/>
              </a:buClr>
              <a:buFont typeface="Arial"/>
              <a:buChar char="•"/>
            </a:pPr>
            <a:r>
              <a:rPr lang="en-GB" sz="2800" b="0" i="1" strike="noStrike" spc="-1">
                <a:solidFill>
                  <a:srgbClr val="5C6370"/>
                </a:solidFill>
                <a:latin typeface="ui-monospace"/>
              </a:rPr>
              <a:t># Create a container from the ubuntu image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</a:pP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docker run -it --</a:t>
            </a:r>
            <a:r>
              <a:rPr lang="en-GB" sz="2800" b="0" strike="noStrike" spc="-1">
                <a:solidFill>
                  <a:srgbClr val="E6C07B"/>
                </a:solidFill>
                <a:latin typeface="ui-monospace"/>
              </a:rPr>
              <a:t>rm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ubuntu:22.04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C637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i="1" strike="noStrike" spc="-1">
                <a:solidFill>
                  <a:srgbClr val="5C6370"/>
                </a:solidFill>
                <a:latin typeface="ui-monospace"/>
              </a:rPr>
              <a:t># Check if the file exists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E6C07B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strike="noStrike" spc="-1">
                <a:solidFill>
                  <a:srgbClr val="E6C07B"/>
                </a:solidFill>
                <a:latin typeface="ui-monospace"/>
              </a:rPr>
              <a:t>cat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my-data/hello.txt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C637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i="1" strike="noStrike" spc="-1">
                <a:solidFill>
                  <a:srgbClr val="5C6370"/>
                </a:solidFill>
                <a:latin typeface="ui-monospace"/>
              </a:rPr>
              <a:t># Produces error: `cat: my-data/hello.txt: No such file or directory`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E3C0B12E-012F-4990-A333-D57BB782D55D}" type="slidenum"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Rectangl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838080" y="1641600"/>
            <a:ext cx="4389840" cy="132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000" b="0" strike="noStrike" spc="-1">
                <a:solidFill>
                  <a:schemeClr val="lt1"/>
                </a:solidFill>
                <a:latin typeface="Aptos Display"/>
              </a:rPr>
              <a:t>Podaci u docker kontejneru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838080" y="3146400"/>
            <a:ext cx="4389840" cy="263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2500" lnSpcReduction="1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13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Ne možemo podatke koji će da se mijenjaju da ugradimo u docker sliku kao što smo uradili sa aplikacijom (ping ili g++) koja nam je trebala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en-GB" sz="13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Potrebno je da pove</a:t>
            </a:r>
            <a:r>
              <a:rPr lang="sr-Latn-RS" sz="13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žemo diretorijum iz host Operativnog Sistema sa direktorijumom unitar kontejnera u kojem želimo da smjesimo podatke.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13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Docker volumes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13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Preporučeni metod za čuvanje podataka u produkciji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13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Možemo da kontrolišemo volume pomoću cli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13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Bind mount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13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Sami napravimo direktorijum koji želimo da bude vidljiv u docker slici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13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Pogodno za izmjene u kodu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5" name="Picture 2" descr="Docker volumes diagram"/>
          <p:cNvPicPr/>
          <p:nvPr/>
        </p:nvPicPr>
        <p:blipFill>
          <a:blip r:embed="rId2"/>
          <a:stretch/>
        </p:blipFill>
        <p:spPr>
          <a:xfrm>
            <a:off x="6095880" y="2212560"/>
            <a:ext cx="5259960" cy="239256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2EAF5ABA-5858-442D-9B30-3E053131BBEF}" type="slidenum"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Podaci u docker kontejneru (volume mount)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277" lnSpcReduction="1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C6370"/>
              </a:buClr>
              <a:buFont typeface="Arial"/>
              <a:buChar char="•"/>
            </a:pPr>
            <a:r>
              <a:rPr lang="en-GB" sz="2800" b="0" i="1" strike="noStrike" spc="-1">
                <a:solidFill>
                  <a:srgbClr val="5C6370"/>
                </a:solidFill>
                <a:latin typeface="ui-monospace"/>
              </a:rPr>
              <a:t># create a named volume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</a:pP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docker volume create my-volume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C637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i="1" strike="noStrike" spc="-1">
                <a:solidFill>
                  <a:srgbClr val="5C6370"/>
                </a:solidFill>
                <a:latin typeface="ui-monospace"/>
              </a:rPr>
              <a:t># Create a container and mount the volume into the container filesystem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docker run -it --</a:t>
            </a:r>
            <a:r>
              <a:rPr lang="en-GB" sz="2800" b="0" strike="noStrike" spc="-1">
                <a:solidFill>
                  <a:srgbClr val="E6C07B"/>
                </a:solidFill>
                <a:latin typeface="ui-monospace"/>
              </a:rPr>
              <a:t>rm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\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  --mount </a:t>
            </a:r>
            <a:r>
              <a:rPr lang="en-GB" sz="2800" b="0" strike="noStrike" spc="-1">
                <a:solidFill>
                  <a:srgbClr val="E6C07B"/>
                </a:solidFill>
                <a:latin typeface="ui-monospace"/>
              </a:rPr>
              <a:t>source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=my-volume,destination=/my-data/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  ubuntu:22.04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C637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i="1" strike="noStrike" spc="-1">
                <a:solidFill>
                  <a:srgbClr val="5C6370"/>
                </a:solidFill>
                <a:latin typeface="ui-monospace"/>
              </a:rPr>
              <a:t># There is a similar (but shorter) syntax using -v which accomplishes the same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docker run -it --</a:t>
            </a:r>
            <a:r>
              <a:rPr lang="en-GB" sz="2800" b="0" strike="noStrike" spc="-1">
                <a:solidFill>
                  <a:srgbClr val="E6C07B"/>
                </a:solidFill>
                <a:latin typeface="ui-monospace"/>
              </a:rPr>
              <a:t>rm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-v my-volume:/my-data ubuntu:22.04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peech Bubble: Oval 4"/>
          <p:cNvSpPr/>
          <p:nvPr/>
        </p:nvSpPr>
        <p:spPr>
          <a:xfrm>
            <a:off x="8467200" y="3620880"/>
            <a:ext cx="2248200" cy="858600"/>
          </a:xfrm>
          <a:prstGeom prst="wedgeEllipseCallout">
            <a:avLst>
              <a:gd name="adj1" fmla="val -67174"/>
              <a:gd name="adj2" fmla="val -2394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1100" b="0" strike="noStrike" spc="-1">
                <a:solidFill>
                  <a:schemeClr val="lt1"/>
                </a:solidFill>
                <a:latin typeface="Aptos"/>
              </a:rPr>
              <a:t>Sve </a:t>
            </a:r>
            <a:r>
              <a:rPr lang="sr-Latn-RS" sz="1100" b="0" strike="noStrike" spc="-1">
                <a:solidFill>
                  <a:schemeClr val="lt1"/>
                </a:solidFill>
                <a:latin typeface="Aptos"/>
              </a:rPr>
              <a:t>što unutar docker containera sačuvamo u direktorijumu /my-data, biće trajno sačuvano u volume</a:t>
            </a:r>
            <a:endParaRPr lang="en-US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peech Bubble: Oval 5"/>
          <p:cNvSpPr/>
          <p:nvPr/>
        </p:nvSpPr>
        <p:spPr>
          <a:xfrm>
            <a:off x="5760720" y="1690560"/>
            <a:ext cx="4095360" cy="667440"/>
          </a:xfrm>
          <a:prstGeom prst="wedgeEllipseCallout">
            <a:avLst>
              <a:gd name="adj1" fmla="val -50074"/>
              <a:gd name="adj2" fmla="val 47453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sr-Latn-RS" sz="1800" b="0" strike="noStrike" spc="-1">
                <a:solidFill>
                  <a:schemeClr val="lt1"/>
                </a:solidFill>
                <a:latin typeface="Aptos"/>
              </a:rPr>
              <a:t>Docker kreira direktorijum u /var/lib/docker/volumes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35F15C38-4421-45F3-B09C-1EDD68FA5AA5}" type="slidenum"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Podaci u docker kontejneru (bind mount)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C6370"/>
              </a:buClr>
              <a:buFont typeface="Arial"/>
              <a:buChar char="•"/>
            </a:pPr>
            <a:r>
              <a:rPr lang="en-GB" sz="2800" b="0" i="1" strike="noStrike" spc="-1">
                <a:solidFill>
                  <a:srgbClr val="5C6370"/>
                </a:solidFill>
                <a:latin typeface="ui-monospace"/>
              </a:rPr>
              <a:t># Create a container that mounts a directory from the host filesystem into the container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</a:pP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docker run -it --</a:t>
            </a:r>
            <a:r>
              <a:rPr lang="en-GB" sz="2800" b="0" strike="noStrike" spc="-1">
                <a:solidFill>
                  <a:srgbClr val="E6C07B"/>
                </a:solidFill>
                <a:latin typeface="ui-monospace"/>
              </a:rPr>
              <a:t>rm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--mount </a:t>
            </a:r>
            <a:r>
              <a:rPr lang="en-GB" sz="2800" b="0" strike="noStrike" spc="-1">
                <a:solidFill>
                  <a:srgbClr val="E6C07B"/>
                </a:solidFill>
                <a:latin typeface="ui-monospace"/>
              </a:rPr>
              <a:t>type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=</a:t>
            </a:r>
            <a:r>
              <a:rPr lang="en-GB" sz="2800" b="0" strike="noStrike" spc="-1">
                <a:solidFill>
                  <a:srgbClr val="E6C07B"/>
                </a:solidFill>
                <a:latin typeface="ui-monospace"/>
              </a:rPr>
              <a:t>bind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,</a:t>
            </a:r>
            <a:r>
              <a:rPr lang="en-GB" sz="2800" b="0" strike="noStrike" spc="-1">
                <a:solidFill>
                  <a:srgbClr val="E6C07B"/>
                </a:solidFill>
                <a:latin typeface="ui-monospace"/>
              </a:rPr>
              <a:t>source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=</a:t>
            </a:r>
            <a:r>
              <a:rPr lang="en-GB" sz="2800" b="0" strike="noStrike" spc="-1">
                <a:solidFill>
                  <a:srgbClr val="98C379"/>
                </a:solidFill>
                <a:latin typeface="ui-monospace"/>
              </a:rPr>
              <a:t>"</a:t>
            </a:r>
            <a:r>
              <a:rPr lang="en-GB" sz="2800" b="0" strike="noStrike" spc="-1">
                <a:solidFill>
                  <a:srgbClr val="D19A66"/>
                </a:solidFill>
                <a:latin typeface="ui-monospace"/>
              </a:rPr>
              <a:t>${PWD}</a:t>
            </a:r>
            <a:r>
              <a:rPr lang="en-GB" sz="2800" b="0" strike="noStrike" spc="-1">
                <a:solidFill>
                  <a:srgbClr val="98C379"/>
                </a:solidFill>
                <a:latin typeface="ui-monospace"/>
              </a:rPr>
              <a:t>"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/my-data,destination=/my-data ubuntu:22.04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C637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i="1" strike="noStrike" spc="-1">
                <a:solidFill>
                  <a:srgbClr val="5C6370"/>
                </a:solidFill>
                <a:latin typeface="ui-monospace"/>
              </a:rPr>
              <a:t># Again, there is a similar (but shorter) syntax using -v which accomplishes the same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docker run -it --</a:t>
            </a:r>
            <a:r>
              <a:rPr lang="en-GB" sz="2800" b="0" strike="noStrike" spc="-1">
                <a:solidFill>
                  <a:srgbClr val="E6C07B"/>
                </a:solidFill>
                <a:latin typeface="ui-monospace"/>
              </a:rPr>
              <a:t>rm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 -v </a:t>
            </a:r>
            <a:r>
              <a:rPr lang="en-GB" sz="2800" b="0" strike="noStrike" spc="-1">
                <a:solidFill>
                  <a:srgbClr val="D19A66"/>
                </a:solidFill>
                <a:latin typeface="ui-monospace"/>
              </a:rPr>
              <a:t>${PWD}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/my-data:/my-data ubuntu:22.04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peech Bubble: Oval 4"/>
          <p:cNvSpPr/>
          <p:nvPr/>
        </p:nvSpPr>
        <p:spPr>
          <a:xfrm>
            <a:off x="7543800" y="3255120"/>
            <a:ext cx="2650680" cy="748800"/>
          </a:xfrm>
          <a:prstGeom prst="wedgeEllipseCallout">
            <a:avLst>
              <a:gd name="adj1" fmla="val -51178"/>
              <a:gd name="adj2" fmla="val -43598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sr-Latn-RS" sz="1200" b="0" strike="noStrike" spc="-1">
                <a:solidFill>
                  <a:schemeClr val="lt1"/>
                </a:solidFill>
                <a:latin typeface="Aptos"/>
              </a:rPr>
              <a:t>Diretorijum iz hosto OS direktono uključujemo u container</a:t>
            </a:r>
            <a:endParaRPr lang="en-US" sz="1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CFC253CB-B148-4C49-8521-9BEDE11ED64F}" type="slidenum">
              <a:t>20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tangl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838080" y="1641600"/>
            <a:ext cx="4389840" cy="132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000" b="0" strike="noStrike" spc="-1">
                <a:solidFill>
                  <a:schemeClr val="lt1"/>
                </a:solidFill>
                <a:latin typeface="Aptos Display"/>
              </a:rPr>
              <a:t>Dockerfile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838080" y="3146400"/>
            <a:ext cx="4389840" cy="263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7222" lnSpcReduction="1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Tekstualni dokument koji sadrži komande koje je treba da se izvrše da bi dobili docker sliku sa svim potrebnim softverom za izvršavanje aplikacije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sr-Latn-RS" sz="24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https://docs.docker.com/reference/dockerfile/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6" name="Picture 2"/>
          <p:cNvPicPr/>
          <p:nvPr/>
        </p:nvPicPr>
        <p:blipFill>
          <a:blip r:embed="rId2"/>
          <a:srcRect l="5286" t="24638" r="40743" b="15129"/>
          <a:stretch/>
        </p:blipFill>
        <p:spPr>
          <a:xfrm>
            <a:off x="7315200" y="2590920"/>
            <a:ext cx="3596400" cy="198972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CBEA267A-6954-46B1-B82F-60D2278218D1}" type="slidenum">
              <a:t>21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838080" y="1641600"/>
            <a:ext cx="4389840" cy="132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000" b="0" strike="noStrike" spc="-1">
                <a:solidFill>
                  <a:schemeClr val="lt1"/>
                </a:solidFill>
                <a:latin typeface="Aptos Display"/>
              </a:rPr>
              <a:t>Kreiranje docker slike</a:t>
            </a:r>
            <a:endParaRPr lang="en-US" sz="4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/>
          </p:nvPr>
        </p:nvSpPr>
        <p:spPr>
          <a:xfrm>
            <a:off x="838080" y="3146400"/>
            <a:ext cx="4389840" cy="263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69722" lnSpcReduction="1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Docker file se obično smješta u direktorijum sa kodom, pošto će da nam bude važno gdje se nalazi docker file (context)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0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Kontekst može da bude i url sa kodom ili git repozitorijum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Kada se izvrše naredbe iz docker filea u odgovarajućem kontekstu dobijemo dockler sliku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sr-Latn-RS" sz="2000" b="0" strike="noStrike" spc="-1">
                <a:solidFill>
                  <a:schemeClr val="lt1">
                    <a:alpha val="80000"/>
                  </a:schemeClr>
                </a:solidFill>
                <a:latin typeface="Aptos"/>
              </a:rPr>
              <a:t>Svi fajlovi koji zadovoljavaju neki od regexa u .dockerignore fajlu seigornoriši prilikom kreiranja docker slike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0" name="Picture 2" descr="Diagram showing build context and .dockerignore file"/>
          <p:cNvPicPr/>
          <p:nvPr/>
        </p:nvPicPr>
        <p:blipFill>
          <a:blip r:embed="rId2"/>
          <a:stretch/>
        </p:blipFill>
        <p:spPr>
          <a:xfrm>
            <a:off x="5695920" y="2197080"/>
            <a:ext cx="5828400" cy="358812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5F94C206-B73F-44B9-B64C-1E546FBD98F6}" type="slidenum">
              <a:t>22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Dockerfile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Skup instrukcija oblika INSTRUCTION arguments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Instrukcije nisu case sensitive. Konvencija je da se pišu UPPERCASE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Instrukcije se izvršavaju redosljedom kojim su napisane u dockerfile-u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Svka komanda dodaje novi sloj u unified filesystem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Dockerfile mora počinjati instrukcijom FROM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7B65947E-07FA-4702-A2BC-B6309E0F62F6}" type="slidenum">
              <a:t>23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Dockerfile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5833" lnSpcReduction="1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C6370"/>
              </a:buClr>
              <a:buFont typeface="Arial"/>
              <a:buChar char="•"/>
            </a:pPr>
            <a:r>
              <a:rPr lang="en-GB" sz="2800" b="0" i="1" strike="noStrike" spc="-1">
                <a:solidFill>
                  <a:srgbClr val="5C6370"/>
                </a:solidFill>
                <a:latin typeface="ui-monospace"/>
              </a:rPr>
              <a:t># </a:t>
            </a:r>
            <a:r>
              <a:rPr lang="sr-Latn-RS" sz="2800" b="0" i="1" strike="noStrike" spc="-1">
                <a:solidFill>
                  <a:srgbClr val="5C6370"/>
                </a:solidFill>
                <a:latin typeface="ui-monospace"/>
              </a:rPr>
              <a:t>Docker slika treba da bude zasnovana na ubuntu docker slici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rgbClr val="ABB2BF"/>
                </a:solidFill>
                <a:latin typeface="ui-monospace"/>
              </a:rPr>
              <a:t>FROM ubuntu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C637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i="1" strike="noStrike" spc="-1">
                <a:solidFill>
                  <a:srgbClr val="5C6370"/>
                </a:solidFill>
                <a:latin typeface="ui-monospace"/>
              </a:rPr>
              <a:t># </a:t>
            </a:r>
            <a:r>
              <a:rPr lang="sr-Latn-RS" sz="2800" b="0" i="1" strike="noStrike" spc="-1">
                <a:solidFill>
                  <a:srgbClr val="5C6370"/>
                </a:solidFill>
                <a:latin typeface="ui-monospace"/>
              </a:rPr>
              <a:t>Updaujemo repozitorijume odakle se instaliraju aplikaicje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sr-Latn-RS" sz="2800" b="0" strike="noStrike" spc="-1">
                <a:solidFill>
                  <a:srgbClr val="ABB2BF"/>
                </a:solidFill>
                <a:latin typeface="ui-monospace"/>
              </a:rPr>
              <a:t>RUN apt update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C637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i="1" strike="noStrike" spc="-1">
                <a:solidFill>
                  <a:srgbClr val="5C6370"/>
                </a:solidFill>
                <a:latin typeface="ui-monospace"/>
              </a:rPr>
              <a:t># </a:t>
            </a:r>
            <a:r>
              <a:rPr lang="sr-Latn-RS" sz="2800" b="0" i="1" strike="noStrike" spc="-1">
                <a:solidFill>
                  <a:srgbClr val="5C6370"/>
                </a:solidFill>
                <a:latin typeface="ui-monospace"/>
              </a:rPr>
              <a:t>Updaujemo repozitorijume odakle se instaliraju aplikaicje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sr-Latn-RS" sz="2800" b="0" strike="noStrike" spc="-1">
                <a:solidFill>
                  <a:srgbClr val="ABB2BF"/>
                </a:solidFill>
                <a:latin typeface="ui-monospace"/>
              </a:rPr>
              <a:t>RUN apt install g++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C637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i="1" strike="noStrike" spc="-1">
                <a:solidFill>
                  <a:srgbClr val="5C6370"/>
                </a:solidFill>
                <a:latin typeface="ui-monospace"/>
              </a:rPr>
              <a:t># </a:t>
            </a:r>
            <a:r>
              <a:rPr lang="sr-Latn-RS" sz="2800" b="0" i="1" strike="noStrike" spc="-1">
                <a:solidFill>
                  <a:srgbClr val="5C6370"/>
                </a:solidFill>
                <a:latin typeface="ui-monospace"/>
              </a:rPr>
              <a:t>Postavimo direktorijum u koje se trenunto nalazimo u docker slici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sr-Latn-RS" sz="2800" b="0" strike="noStrike" spc="-1">
                <a:solidFill>
                  <a:srgbClr val="ABB2BF"/>
                </a:solidFill>
                <a:latin typeface="ui-monospace"/>
              </a:rPr>
              <a:t>WORKDIR /home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peech Bubble: Oval 5"/>
          <p:cNvSpPr/>
          <p:nvPr/>
        </p:nvSpPr>
        <p:spPr>
          <a:xfrm>
            <a:off x="3447360" y="2340720"/>
            <a:ext cx="7378200" cy="465120"/>
          </a:xfrm>
          <a:prstGeom prst="wedgeEllipseCallout">
            <a:avLst>
              <a:gd name="adj1" fmla="val -55870"/>
              <a:gd name="adj2" fmla="val -39461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1400" b="0" strike="noStrike" spc="-1">
                <a:solidFill>
                  <a:schemeClr val="lt1"/>
                </a:solidFill>
                <a:latin typeface="Aptos"/>
              </a:rPr>
              <a:t>Rekli smo koji nas tag interesuje. Podrazumijevano se koristi verzija latest. Bolje naglasiti I verziju ubuntu:22.04</a:t>
            </a:r>
            <a:endParaRPr lang="en-U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F60600AF-78D9-4AA1-929A-5B7AD02823BD}" type="slidenum">
              <a:t>24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Dockerfile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C6370"/>
              </a:buClr>
              <a:buFont typeface="Arial"/>
              <a:buChar char="•"/>
            </a:pPr>
            <a:r>
              <a:rPr lang="en-GB" sz="2800" b="0" i="1" strike="noStrike" spc="-1">
                <a:solidFill>
                  <a:srgbClr val="5C6370"/>
                </a:solidFill>
                <a:latin typeface="ui-monospace"/>
              </a:rPr>
              <a:t># </a:t>
            </a:r>
            <a:r>
              <a:rPr lang="sr-Latn-RS" sz="2800" b="0" i="1" strike="noStrike" spc="-1">
                <a:solidFill>
                  <a:srgbClr val="5C6370"/>
                </a:solidFill>
                <a:latin typeface="ui-monospace"/>
              </a:rPr>
              <a:t>Napravimo direktorijum gdje cemo da smjestimo nesto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rgbClr val="ABB2BF"/>
                </a:solidFill>
                <a:latin typeface="ui-monospace"/>
              </a:rPr>
              <a:t>RUN  mkdir src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C637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i="1" strike="noStrike" spc="-1">
                <a:solidFill>
                  <a:srgbClr val="5C6370"/>
                </a:solidFill>
                <a:latin typeface="ui-monospace"/>
              </a:rPr>
              <a:t># </a:t>
            </a:r>
            <a:r>
              <a:rPr lang="sr-Latn-RS" sz="2800" b="0" i="1" strike="noStrike" spc="-1">
                <a:solidFill>
                  <a:srgbClr val="5C6370"/>
                </a:solidFill>
                <a:latin typeface="ui-monospace"/>
              </a:rPr>
              <a:t>Kopiramo tekuću direktorijum sa host OS u kontejener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sr-Latn-RS" sz="2800" b="0" strike="noStrike" spc="-1">
                <a:solidFill>
                  <a:srgbClr val="ABB2BF"/>
                </a:solidFill>
                <a:latin typeface="ui-monospace"/>
              </a:rPr>
              <a:t>COPY .  ./src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5C6370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i="1" strike="noStrike" spc="-1">
                <a:solidFill>
                  <a:srgbClr val="5C6370"/>
                </a:solidFill>
                <a:latin typeface="ui-monospace"/>
              </a:rPr>
              <a:t># </a:t>
            </a:r>
            <a:r>
              <a:rPr lang="sr-Latn-RS" sz="2800" b="0" i="1" strike="noStrike" spc="-1">
                <a:solidFill>
                  <a:srgbClr val="5C6370"/>
                </a:solidFill>
                <a:latin typeface="ui-monospace"/>
              </a:rPr>
              <a:t>Komanda koja će da se izvrši prilikom pokretanja docker slike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sr-Latn-RS" sz="2800" b="0" strike="noStrike" spc="-1">
                <a:solidFill>
                  <a:srgbClr val="ABB2BF"/>
                </a:solidFill>
                <a:latin typeface="ui-monospace"/>
              </a:rPr>
              <a:t>CMD </a:t>
            </a: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[“g++”, “main.cpp”, “-o”, “main”]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938E6020-E4A1-401D-8022-47BEF9197963}" type="slidenum">
              <a:t>25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Kreiranje docker slike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docker build –t my-img:v1 –f Dockerfile-v1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3CE6404B-6B26-4544-8822-C9CF9BAA60ED}" type="slidenum">
              <a:t>26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Docker image repository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Nema potrebe da sami kreiramo docker sliku za c++ kompajler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Vjerovatno negdje već postoji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u="sng" strike="noStrike" spc="-1">
                <a:solidFill>
                  <a:schemeClr val="dk1"/>
                </a:solidFill>
                <a:uFillTx/>
                <a:latin typeface="Aptos"/>
                <a:hlinkClick r:id="rId2"/>
              </a:rPr>
              <a:t>https://hub.docker.com/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sr-Latn-RS" sz="2800" b="0" strike="noStrike" spc="-1">
                <a:solidFill>
                  <a:srgbClr val="ABB2BF"/>
                </a:solidFill>
                <a:latin typeface="ui-monospace"/>
              </a:rPr>
              <a:t>FROM gcc:4.9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sr-Latn-RS" sz="2800" b="0" strike="noStrike" spc="-1">
                <a:solidFill>
                  <a:srgbClr val="ABB2BF"/>
                </a:solidFill>
                <a:latin typeface="ui-monospace"/>
              </a:rPr>
              <a:t>COPY . /usr/src/myapp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sr-Latn-RS" sz="2800" b="0" strike="noStrike" spc="-1">
                <a:solidFill>
                  <a:srgbClr val="ABB2BF"/>
                </a:solidFill>
                <a:latin typeface="ui-monospace"/>
              </a:rPr>
              <a:t>WORKDIR /usr/src/myapp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sr-Latn-RS" sz="2800" b="0" strike="noStrike" spc="-1">
                <a:solidFill>
                  <a:srgbClr val="ABB2BF"/>
                </a:solidFill>
                <a:latin typeface="ui-monospace"/>
              </a:rPr>
              <a:t>RUN gcc -o myapp main.c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  <a:tabLst>
                <a:tab pos="0" algn="l"/>
              </a:tabLst>
            </a:pPr>
            <a:r>
              <a:rPr lang="sr-Latn-RS" sz="2800" b="0" strike="noStrike" spc="-1">
                <a:solidFill>
                  <a:srgbClr val="ABB2BF"/>
                </a:solidFill>
                <a:latin typeface="ui-monospace"/>
              </a:rPr>
              <a:t>CMD ["./myapp"]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A752AB9A-4FDB-4A67-8AC3-2D6335CF44CE}" type="slidenum">
              <a:t>27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ENV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v-SE" sz="2800" b="0" strike="noStrike" spc="-1">
                <a:solidFill>
                  <a:schemeClr val="dk1"/>
                </a:solidFill>
                <a:latin typeface="Aptos"/>
              </a:rPr>
              <a:t> direktiva u Dockerfile-u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v-SE" sz="2400" b="0" strike="noStrike" spc="-1">
                <a:solidFill>
                  <a:schemeClr val="dk1"/>
                </a:solidFill>
                <a:latin typeface="Aptos"/>
              </a:rPr>
              <a:t>postavlja promenljive okruženja koje se koriste tokom procesa </a:t>
            </a:r>
            <a:r>
              <a:rPr lang="sr-Latn-RS" sz="2400" b="0" strike="noStrike" spc="-1">
                <a:solidFill>
                  <a:schemeClr val="dk1"/>
                </a:solidFill>
                <a:latin typeface="Aptos"/>
              </a:rPr>
              <a:t>kreiranja docker slike</a:t>
            </a:r>
            <a:r>
              <a:rPr lang="sv-SE" sz="2400" b="0" strike="noStrike" spc="-1">
                <a:solidFill>
                  <a:schemeClr val="dk1"/>
                </a:solidFill>
                <a:latin typeface="Aptos"/>
              </a:rPr>
              <a:t> i unutar pokrenutog kontejnera.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Aptos"/>
              </a:rPr>
              <a:t>ENV &lt;ključ&gt;=&lt;vrednost&gt;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Aptos"/>
              </a:rPr>
              <a:t>Izbegavajte čuvanje osetljivih podataka kao što su lozinke ili API ključevi u ENV.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dk1"/>
                </a:solidFill>
                <a:latin typeface="Aptos"/>
              </a:rPr>
              <a:t>Za veće aplikacije možete da napišete .env fajl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F25F8D99-469B-4C87-A600-D69024B82BA6}" type="slidenum">
              <a:t>28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ENV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nl-NL" sz="2800" b="0" strike="noStrike" spc="-1">
                <a:solidFill>
                  <a:schemeClr val="dk1"/>
                </a:solidFill>
                <a:latin typeface="Aptos"/>
              </a:rPr>
              <a:t>FROM ubuntu:latest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nl-NL" sz="2800" b="0" strike="noStrike" spc="-1">
                <a:solidFill>
                  <a:schemeClr val="dk1"/>
                </a:solidFill>
                <a:latin typeface="Aptos"/>
              </a:rPr>
              <a:t>ENV APP_NAME="MyApp"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nl-NL" sz="2800" b="0" strike="noStrike" spc="-1">
                <a:solidFill>
                  <a:schemeClr val="dk1"/>
                </a:solidFill>
                <a:latin typeface="Aptos"/>
              </a:rPr>
              <a:t>RUN echo "Naziv aplikacije je $APP_NAME"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nl-NL" sz="2800" b="0" strike="noStrike" spc="-1">
                <a:solidFill>
                  <a:schemeClr val="dk1"/>
                </a:solidFill>
                <a:latin typeface="Aptos"/>
              </a:rPr>
              <a:t>CMD ["bash"]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sv-SE" sz="2800" b="0" strike="noStrike" spc="-1">
                <a:solidFill>
                  <a:schemeClr val="dk1"/>
                </a:solidFill>
                <a:latin typeface="Aptos"/>
              </a:rPr>
              <a:t>docker run -e APP_ENV=staging myapp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CA37F69E-BA52-4188-8C8F-9043F1BF3C5C}" type="slidenum">
              <a:t>29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Pokretanje docker kontejnera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7222" lnSpcReduction="1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ABB2BF"/>
              </a:buClr>
              <a:buFont typeface="Arial"/>
              <a:buChar char="•"/>
            </a:pPr>
            <a:r>
              <a:rPr lang="en-GB" sz="2800" b="0" strike="noStrike" spc="-1">
                <a:solidFill>
                  <a:srgbClr val="ABB2BF"/>
                </a:solidFill>
                <a:latin typeface="ui-monospace"/>
              </a:rPr>
              <a:t>docker run [OPTIONS] IMAGE [COMMAND] [ARG …]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strike="noStrike" spc="-1">
                <a:solidFill>
                  <a:schemeClr val="dk1"/>
                </a:solidFill>
                <a:latin typeface="Aptos"/>
              </a:rPr>
              <a:t>Opcije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Aptos"/>
              </a:rPr>
              <a:t>-d (Detach) pokre</a:t>
            </a:r>
            <a:r>
              <a:rPr lang="sr-Latn-RS" sz="2400" b="0" strike="noStrike" spc="-1">
                <a:solidFill>
                  <a:schemeClr val="dk1"/>
                </a:solidFill>
                <a:latin typeface="Aptos"/>
              </a:rPr>
              <a:t>će kontejen</a:t>
            </a: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er u pozadini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ABB2BF"/>
              </a:buClr>
              <a:buFont typeface="Arial"/>
              <a:buChar char="•"/>
            </a:pPr>
            <a:r>
              <a:rPr lang="en-GB" sz="2000" b="0" strike="noStrike" spc="-1">
                <a:solidFill>
                  <a:srgbClr val="ABB2BF"/>
                </a:solidFill>
                <a:latin typeface="ui-monospace"/>
              </a:rPr>
              <a:t>docker run -d ubuntu </a:t>
            </a:r>
            <a:r>
              <a:rPr lang="en-GB" sz="2000" b="0" strike="noStrike" spc="-1">
                <a:solidFill>
                  <a:srgbClr val="E6C07B"/>
                </a:solidFill>
                <a:latin typeface="ui-monospace"/>
              </a:rPr>
              <a:t>sleep</a:t>
            </a:r>
            <a:r>
              <a:rPr lang="en-GB" sz="2000" b="0" strike="noStrike" spc="-1">
                <a:solidFill>
                  <a:srgbClr val="ABB2BF"/>
                </a:solidFill>
                <a:latin typeface="ui-monospace"/>
              </a:rPr>
              <a:t> 5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--entrypoint 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ABB2BF"/>
              </a:buClr>
              <a:buFont typeface="Arial"/>
              <a:buChar char="•"/>
            </a:pPr>
            <a:r>
              <a:rPr lang="en-GB" sz="2000" b="0" strike="noStrike" spc="-1">
                <a:solidFill>
                  <a:srgbClr val="ABB2BF"/>
                </a:solidFill>
                <a:latin typeface="ui-monospace"/>
              </a:rPr>
              <a:t>docker run --entrypoint </a:t>
            </a:r>
            <a:r>
              <a:rPr lang="en-GB" sz="2000" b="0" strike="noStrike" spc="-1">
                <a:solidFill>
                  <a:srgbClr val="E6C07B"/>
                </a:solidFill>
                <a:latin typeface="ui-monospace"/>
              </a:rPr>
              <a:t>echo</a:t>
            </a:r>
            <a:r>
              <a:rPr lang="en-GB" sz="2000" b="0" strike="noStrike" spc="-1">
                <a:solidFill>
                  <a:srgbClr val="ABB2BF"/>
                </a:solidFill>
                <a:latin typeface="ui-monospace"/>
              </a:rPr>
              <a:t> ubuntu hello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--env ili –e Postavlja promjenljive okru</a:t>
            </a:r>
            <a:r>
              <a:rPr lang="sr-Latn-RS" sz="2400" b="0" strike="noStrike" spc="-1">
                <a:solidFill>
                  <a:schemeClr val="dk1"/>
                </a:solidFill>
                <a:latin typeface="Aptos"/>
              </a:rPr>
              <a:t>ženja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ABB2BF"/>
              </a:buClr>
              <a:buFont typeface="Arial"/>
              <a:buChar char="•"/>
            </a:pPr>
            <a:r>
              <a:rPr lang="en-GB" sz="2000" b="0" strike="noStrike" spc="-1">
                <a:solidFill>
                  <a:srgbClr val="ABB2BF"/>
                </a:solidFill>
                <a:latin typeface="ui-monospace"/>
              </a:rPr>
              <a:t>docker run --</a:t>
            </a:r>
            <a:r>
              <a:rPr lang="en-GB" sz="2000" b="0" strike="noStrike" spc="-1">
                <a:solidFill>
                  <a:srgbClr val="E6C07B"/>
                </a:solidFill>
                <a:latin typeface="ui-monospace"/>
              </a:rPr>
              <a:t>env</a:t>
            </a:r>
            <a:r>
              <a:rPr lang="en-GB" sz="2000" b="0" strike="noStrike" spc="-1">
                <a:solidFill>
                  <a:srgbClr val="ABB2BF"/>
                </a:solidFill>
                <a:latin typeface="ui-monospace"/>
              </a:rPr>
              <a:t> MY_ENV=hello ubuntu </a:t>
            </a:r>
            <a:r>
              <a:rPr lang="en-GB" sz="2000" b="0" strike="noStrike" spc="-1">
                <a:solidFill>
                  <a:srgbClr val="E6C07B"/>
                </a:solidFill>
                <a:latin typeface="ui-monospace"/>
              </a:rPr>
              <a:t>printenv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--</a:t>
            </a:r>
            <a:r>
              <a:rPr lang="sr-Latn-RS" sz="2400" b="0" strike="noStrike" spc="-1">
                <a:solidFill>
                  <a:schemeClr val="dk1"/>
                </a:solidFill>
                <a:latin typeface="Aptos"/>
              </a:rPr>
              <a:t>iterative ili -i</a:t>
            </a: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 </a:t>
            </a:r>
            <a:r>
              <a:rPr lang="sr-Latn-RS" sz="2400" b="0" strike="noStrike" spc="-1">
                <a:solidFill>
                  <a:schemeClr val="dk1"/>
                </a:solidFill>
                <a:latin typeface="Aptos"/>
              </a:rPr>
              <a:t>iterativna sesija. –tty ili -t kreira terminal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ABB2BF"/>
              </a:buClr>
              <a:buFont typeface="Arial"/>
              <a:buChar char="•"/>
            </a:pPr>
            <a:r>
              <a:rPr lang="en-GB" sz="2000" b="0" strike="noStrike" spc="-1">
                <a:solidFill>
                  <a:srgbClr val="ABB2BF"/>
                </a:solidFill>
                <a:latin typeface="ui-monospace"/>
              </a:rPr>
              <a:t>docker run -it ubuntu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dk1"/>
                </a:solidFill>
                <a:latin typeface="Aptos"/>
              </a:rPr>
              <a:t>--mount 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000" b="0" strike="noStrike" spc="-1">
                <a:solidFill>
                  <a:schemeClr val="dk1"/>
                </a:solidFill>
                <a:latin typeface="Aptos"/>
              </a:rPr>
              <a:t> </a:t>
            </a:r>
            <a:r>
              <a:rPr lang="en-GB" sz="2000" b="0" strike="noStrike" spc="-1">
                <a:solidFill>
                  <a:srgbClr val="ABB2BF"/>
                </a:solidFill>
                <a:latin typeface="ui-monospace"/>
              </a:rPr>
              <a:t>docker run –it –rm –mount source=vol1,destination=/home ubuntu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ui-monospace"/>
              </a:rPr>
              <a:t>--volume ili –v 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ABB2BF"/>
              </a:buClr>
              <a:buFont typeface="Arial"/>
              <a:buChar char="•"/>
            </a:pPr>
            <a:r>
              <a:rPr lang="en-GB" sz="2000" b="0" strike="noStrike" spc="-1">
                <a:solidFill>
                  <a:srgbClr val="ABB2BF"/>
                </a:solidFill>
                <a:latin typeface="ui-monospace"/>
              </a:rPr>
              <a:t>docker run –it –rm –volume vol1:/home ubuntu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FB22C902-23A3-42F0-9623-11442E6F32A1}" type="slidenum">
              <a:t>30</a:t>
            </a:fld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Pokretanje docker kontejnera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Opcije: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--name postavlja ime kontejneru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ABB2BF"/>
              </a:buClr>
              <a:buFont typeface="Arial"/>
              <a:buChar char="•"/>
            </a:pPr>
            <a:r>
              <a:rPr lang="en-GB" sz="2000" b="0" strike="noStrike" spc="-1">
                <a:solidFill>
                  <a:srgbClr val="ABB2BF"/>
                </a:solidFill>
                <a:latin typeface="ui-monospace"/>
              </a:rPr>
              <a:t>docker run -d --name my_container ubuntu </a:t>
            </a:r>
            <a:r>
              <a:rPr lang="en-GB" sz="2000" b="0" strike="noStrike" spc="-1">
                <a:solidFill>
                  <a:srgbClr val="E6C07B"/>
                </a:solidFill>
                <a:latin typeface="ui-monospace"/>
              </a:rPr>
              <a:t>sleep</a:t>
            </a:r>
            <a:r>
              <a:rPr lang="en-GB" sz="2000" b="0" strike="noStrike" spc="-1">
                <a:solidFill>
                  <a:srgbClr val="ABB2BF"/>
                </a:solidFill>
                <a:latin typeface="ui-monospace"/>
              </a:rPr>
              <a:t> 99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Aptos"/>
              </a:rPr>
              <a:t>--publish ili –p povezuje port na host operativnom sistemu sa portom u kontejneru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ABB2BF"/>
              </a:buClr>
              <a:buFont typeface="Arial"/>
              <a:buChar char="•"/>
            </a:pPr>
            <a:r>
              <a:rPr lang="en-GB" sz="2000" b="0" strike="noStrike" spc="-1">
                <a:solidFill>
                  <a:srgbClr val="ABB2BF"/>
                </a:solidFill>
                <a:latin typeface="ui-monospace"/>
              </a:rPr>
              <a:t>docker run -p 3000:3000 api-node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ui-monospace"/>
              </a:rPr>
              <a:t>--restart pravilo za restartovanje kontejnera (</a:t>
            </a:r>
            <a:r>
              <a:rPr lang="en-GB" sz="2400" b="0" strike="noStrike" spc="-1">
                <a:solidFill>
                  <a:schemeClr val="dk1"/>
                </a:solidFill>
                <a:latin typeface="ui-sans-serif"/>
              </a:rPr>
              <a:t>always, unless-stopped, or never)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ABB2BF"/>
              </a:buClr>
              <a:buFont typeface="Arial"/>
              <a:buChar char="•"/>
            </a:pPr>
            <a:r>
              <a:rPr lang="en-GB" sz="2000" b="0" strike="noStrike" spc="-1">
                <a:solidFill>
                  <a:srgbClr val="ABB2BF"/>
                </a:solidFill>
                <a:latin typeface="ui-monospace"/>
              </a:rPr>
              <a:t>docker run --restart unless-stopped ubuntu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GB" sz="2400" b="0" strike="noStrike" spc="-1">
                <a:solidFill>
                  <a:schemeClr val="dk1"/>
                </a:solidFill>
                <a:latin typeface="ui-sans-serif"/>
              </a:rPr>
              <a:t>--gpus dozvoli kontejneru da pristupa grafi</a:t>
            </a:r>
            <a:r>
              <a:rPr lang="sr-Latn-RS" sz="2400" b="0" strike="noStrike" spc="-1">
                <a:solidFill>
                  <a:schemeClr val="dk1"/>
                </a:solidFill>
                <a:latin typeface="ui-sans-serif"/>
              </a:rPr>
              <a:t>čkoj kartici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dk1"/>
                </a:solidFill>
                <a:latin typeface="ui-sans-serif"/>
              </a:rPr>
              <a:t>--memory </a:t>
            </a:r>
            <a:r>
              <a:rPr lang="en-US" sz="2400" b="0" strike="noStrike" spc="-1">
                <a:solidFill>
                  <a:schemeClr val="dk1"/>
                </a:solidFill>
                <a:latin typeface="ui-sans-serif"/>
              </a:rPr>
              <a:t>specificira koli</a:t>
            </a:r>
            <a:r>
              <a:rPr lang="sr-Latn-RS" sz="2400" b="0" strike="noStrike" spc="-1">
                <a:solidFill>
                  <a:schemeClr val="dk1"/>
                </a:solidFill>
                <a:latin typeface="ui-sans-serif"/>
              </a:rPr>
              <a:t>činu memorije koju može da koristi kontejner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dk1"/>
                </a:solidFill>
                <a:latin typeface="ui-sans-serif"/>
              </a:rPr>
              <a:t>...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EADA5F77-4F13-46D3-B09A-ABA8FBE1400F}" type="slidenum">
              <a:t>31</a:t>
            </a:fld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Docker compose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Aplikacija može da se izvršava u više kontejnera koji međusobno komuniciraju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dk1"/>
                </a:solidFill>
                <a:latin typeface="Aptos"/>
              </a:rPr>
              <a:t>Kontejener za bazu podataka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dk1"/>
                </a:solidFill>
                <a:latin typeface="Aptos"/>
              </a:rPr>
              <a:t>Kontejener za backend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dk1"/>
                </a:solidFill>
                <a:latin typeface="Aptos"/>
              </a:rPr>
              <a:t>Kontejener za frontend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Imamo docker fajl za svakiu docker sliku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dk1"/>
                </a:solidFill>
                <a:latin typeface="Aptos"/>
              </a:rPr>
              <a:t>Treba da kreiramo volume za podatke koje čuvamo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dk1"/>
                </a:solidFill>
                <a:latin typeface="Aptos"/>
              </a:rPr>
              <a:t>Za svaku docker sliku treba da pokrenemo docker build ...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dk1"/>
                </a:solidFill>
                <a:latin typeface="Aptos"/>
              </a:rPr>
              <a:t>Za svaki kontejner treba da pokrenemo docker run ...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dk1"/>
                </a:solidFill>
                <a:latin typeface="Aptos"/>
              </a:rPr>
              <a:t>Ako želimo da ukolonimo docker slike 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40508F4F-0C32-47C2-A54E-C595E8B572DF}" type="slidenum">
              <a:t>32</a:t>
            </a:fld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Docker compose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6666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Rješenje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Napravi specifikaciju koja govori 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Kako se kreiraju docker slike iz docker fajlova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Koji volumes postoje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Kako se pokre</a:t>
            </a:r>
            <a:r>
              <a:rPr lang="sr-Latn-RS" sz="2000" b="0" strike="noStrike" spc="-1">
                <a:solidFill>
                  <a:schemeClr val="dk1"/>
                </a:solidFill>
                <a:latin typeface="Aptos"/>
              </a:rPr>
              <a:t>ću sve docker slike zajedno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000" b="0" strike="noStrike" spc="-1">
                <a:solidFill>
                  <a:schemeClr val="dk1"/>
                </a:solidFill>
                <a:latin typeface="Aptos"/>
              </a:rPr>
              <a:t>...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Pokretanje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dk1"/>
                </a:solidFill>
                <a:latin typeface="Aptos"/>
              </a:rPr>
              <a:t>docker compose up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dk1"/>
                </a:solidFill>
                <a:latin typeface="Aptos"/>
              </a:rPr>
              <a:t>Ako neka slika ne postoji automatski će da se napravi 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Zaustavljanje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400" b="0" strike="noStrike" spc="-1">
                <a:solidFill>
                  <a:schemeClr val="dk1"/>
                </a:solidFill>
                <a:latin typeface="Aptos"/>
              </a:rPr>
              <a:t>docker compose down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3A6E61CF-4D19-4F06-A15F-A2858F984980}" type="slidenum">
              <a:t>33</a:t>
            </a:fld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Docker compose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254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54166" lnSpcReduction="10000"/>
          </a:bodyPr>
          <a:lstStyle/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800" b="0" strike="noStrike" spc="-1">
                <a:solidFill>
                  <a:srgbClr val="569CD6"/>
                </a:solidFill>
                <a:latin typeface="Consolas"/>
              </a:rPr>
              <a:t>docker-compose.yml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569CD6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strike="noStrike" spc="-1">
                <a:solidFill>
                  <a:srgbClr val="569CD6"/>
                </a:solidFill>
                <a:latin typeface="Consolas"/>
              </a:rPr>
              <a:t>services</a:t>
            </a:r>
            <a:r>
              <a:rPr lang="en-GB" sz="2800" b="0" strike="noStrike" spc="-1">
                <a:solidFill>
                  <a:srgbClr val="CCCCCC"/>
                </a:solidFill>
                <a:latin typeface="Consolas"/>
              </a:rPr>
              <a:t>: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CCCCCC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strike="noStrike" spc="-1">
                <a:solidFill>
                  <a:srgbClr val="CCCCCC"/>
                </a:solidFill>
                <a:latin typeface="Consolas"/>
              </a:rPr>
              <a:t>  </a:t>
            </a:r>
            <a:r>
              <a:rPr lang="en-GB" sz="2800" b="0" strike="noStrike" spc="-1">
                <a:solidFill>
                  <a:srgbClr val="569CD6"/>
                </a:solidFill>
                <a:latin typeface="Consolas"/>
              </a:rPr>
              <a:t>hello-world</a:t>
            </a:r>
            <a:r>
              <a:rPr lang="en-GB" sz="2800" b="0" strike="noStrike" spc="-1">
                <a:solidFill>
                  <a:srgbClr val="CCCCCC"/>
                </a:solidFill>
                <a:latin typeface="Consolas"/>
              </a:rPr>
              <a:t>: 					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CCCCCC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strike="noStrike" spc="-1">
                <a:solidFill>
                  <a:srgbClr val="CCCCCC"/>
                </a:solidFill>
                <a:latin typeface="Consolas"/>
              </a:rPr>
              <a:t>    </a:t>
            </a:r>
            <a:r>
              <a:rPr lang="en-GB" sz="2800" b="0" strike="noStrike" spc="-1">
                <a:solidFill>
                  <a:srgbClr val="569CD6"/>
                </a:solidFill>
                <a:latin typeface="Consolas"/>
              </a:rPr>
              <a:t>image</a:t>
            </a:r>
            <a:r>
              <a:rPr lang="en-GB" sz="2800" b="0" strike="noStrike" spc="-1">
                <a:solidFill>
                  <a:srgbClr val="CCCCCC"/>
                </a:solidFill>
                <a:latin typeface="Consolas"/>
              </a:rPr>
              <a:t>: </a:t>
            </a:r>
            <a:r>
              <a:rPr lang="en-GB" sz="2800" b="0" strike="noStrike" spc="-1">
                <a:solidFill>
                  <a:srgbClr val="CE9178"/>
                </a:solidFill>
                <a:latin typeface="Consolas"/>
              </a:rPr>
              <a:t>"hello_world:v1.0”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800" b="0" strike="noStrike" spc="-1">
                <a:solidFill>
                  <a:srgbClr val="CCCCCC"/>
                </a:solidFill>
                <a:latin typeface="Consolas"/>
              </a:rPr>
              <a:t>Shell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50000"/>
              </a:lnSpc>
              <a:spcBef>
                <a:spcPts val="1001"/>
              </a:spcBef>
              <a:buClr>
                <a:srgbClr val="CCCCCC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800" b="0" strike="noStrike" spc="-1">
                <a:solidFill>
                  <a:srgbClr val="CCCCCC"/>
                </a:solidFill>
                <a:latin typeface="Consolas"/>
              </a:rPr>
              <a:t> </a:t>
            </a:r>
            <a:r>
              <a:rPr lang="en-GB" sz="2800" b="0" strike="noStrike" spc="-1">
                <a:solidFill>
                  <a:srgbClr val="569CD6"/>
                </a:solidFill>
                <a:latin typeface="Consolas"/>
              </a:rPr>
              <a:t>dokcer compose up	</a:t>
            </a:r>
            <a:r>
              <a:rPr lang="en-GB" sz="2800" b="0" strike="noStrike" spc="-1">
                <a:solidFill>
                  <a:srgbClr val="CCCCCC"/>
                </a:solidFill>
                <a:latin typeface="Consolas"/>
              </a:rPr>
              <a:t> #pokrece docker container na osnovu docker-compose specifikacije	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Rectangle 5"/>
          <p:cNvSpPr/>
          <p:nvPr/>
        </p:nvSpPr>
        <p:spPr>
          <a:xfrm>
            <a:off x="838080" y="1810440"/>
            <a:ext cx="10514520" cy="2558160"/>
          </a:xfrm>
          <a:prstGeom prst="rect">
            <a:avLst/>
          </a:prstGeom>
          <a:noFill/>
          <a:ln>
            <a:solidFill>
              <a:srgbClr val="0F9ED5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187" name="TextBox 7"/>
          <p:cNvSpPr/>
          <p:nvPr/>
        </p:nvSpPr>
        <p:spPr>
          <a:xfrm>
            <a:off x="838080" y="5253840"/>
            <a:ext cx="6095880" cy="91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GB" sz="1800" b="0" strike="noStrike" spc="-1">
                <a:solidFill>
                  <a:srgbClr val="CCCCCC"/>
                </a:solidFill>
                <a:latin typeface="Consolas"/>
              </a:rPr>
              <a:t>Shell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  <a:p>
            <a:pPr marL="285840" indent="-285840" defTabSz="914400">
              <a:lnSpc>
                <a:spcPct val="150000"/>
              </a:lnSpc>
              <a:buClr>
                <a:srgbClr val="CCCCCC"/>
              </a:buClr>
              <a:buFont typeface="Arial"/>
              <a:buChar char="•"/>
              <a:tabLst>
                <a:tab pos="0" algn="l"/>
              </a:tabLst>
            </a:pPr>
            <a:r>
              <a:rPr lang="en-GB" sz="1800" b="0" strike="noStrike" spc="-1">
                <a:solidFill>
                  <a:srgbClr val="CCCCCC"/>
                </a:solidFill>
                <a:latin typeface="Consolas"/>
              </a:rPr>
              <a:t> </a:t>
            </a:r>
            <a:r>
              <a:rPr lang="en-GB" sz="1800" b="0" strike="noStrike" spc="-1">
                <a:solidFill>
                  <a:srgbClr val="569CD6"/>
                </a:solidFill>
                <a:latin typeface="Consolas"/>
              </a:rPr>
              <a:t>dokcer run hello_world:v1.0</a:t>
            </a: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Rectangle 9"/>
          <p:cNvSpPr/>
          <p:nvPr/>
        </p:nvSpPr>
        <p:spPr>
          <a:xfrm>
            <a:off x="838080" y="5286240"/>
            <a:ext cx="10514520" cy="954000"/>
          </a:xfrm>
          <a:prstGeom prst="rect">
            <a:avLst/>
          </a:prstGeom>
          <a:noFill/>
          <a:ln>
            <a:solidFill>
              <a:srgbClr val="0F9ED5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dk1"/>
              </a:solidFill>
              <a:latin typeface="Aptos"/>
            </a:endParaRPr>
          </a:p>
        </p:txBody>
      </p:sp>
      <p:sp>
        <p:nvSpPr>
          <p:cNvPr id="189" name="Arrow: Up-Down 10"/>
          <p:cNvSpPr/>
          <p:nvPr/>
        </p:nvSpPr>
        <p:spPr>
          <a:xfrm>
            <a:off x="2111040" y="4523040"/>
            <a:ext cx="324000" cy="614880"/>
          </a:xfrm>
          <a:prstGeom prst="upDownArrow">
            <a:avLst>
              <a:gd name="adj1" fmla="val 50000"/>
              <a:gd name="adj2" fmla="val 50000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GB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6ED8BD12-62F7-403E-9711-A7B90EDAA9B1}" type="slidenum">
              <a:t>34</a:t>
            </a:fld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Docker compose 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2567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Docker run flag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-t / --tty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-i / --iterative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-v ${PWD}/src:/src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-p 80:80 –p 90:100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-e UNAME="MARKO“ –e UID=1001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Content Placeholder 2"/>
          <p:cNvSpPr/>
          <p:nvPr/>
        </p:nvSpPr>
        <p:spPr>
          <a:xfrm>
            <a:off x="6115320" y="1781640"/>
            <a:ext cx="5256720" cy="4350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Docker compose flag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tty: true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stdin_open: true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volumes: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914400" defTabSz="914400"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- ${PWD}/src:/src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ports: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-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80:80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-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90:100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environment: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-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UNAME=“MARKO”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-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UID=1001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7D936FF9-B682-4A47-B0A4-213072398D65}" type="slidenum">
              <a:t>35</a:t>
            </a:fld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Docker compose 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2567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62222" lnSpcReduction="20000"/>
          </a:bodyPr>
          <a:lstStyle/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GB" sz="2000" b="0" strike="noStrike" spc="-1">
                <a:solidFill>
                  <a:srgbClr val="569CD6"/>
                </a:solidFill>
                <a:latin typeface="Consolas"/>
              </a:rPr>
              <a:t>docker-compose.yml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569CD6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rgbClr val="569CD6"/>
                </a:solidFill>
                <a:latin typeface="Consolas"/>
              </a:rPr>
              <a:t>services</a:t>
            </a:r>
            <a:r>
              <a:rPr lang="en-GB" sz="2000" b="0" strike="noStrike" spc="-1">
                <a:solidFill>
                  <a:srgbClr val="CCCCCC"/>
                </a:solidFill>
                <a:latin typeface="Consolas"/>
              </a:rPr>
              <a:t>: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CCCCCC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rgbClr val="CCCCCC"/>
                </a:solidFill>
                <a:latin typeface="Consolas"/>
              </a:rPr>
              <a:t>  </a:t>
            </a:r>
            <a:r>
              <a:rPr lang="en-GB" sz="2000" b="0" strike="noStrike" spc="-1">
                <a:solidFill>
                  <a:srgbClr val="569CD6"/>
                </a:solidFill>
                <a:latin typeface="Consolas"/>
              </a:rPr>
              <a:t>hello-world</a:t>
            </a:r>
            <a:r>
              <a:rPr lang="en-GB" sz="2000" b="0" strike="noStrike" spc="-1">
                <a:solidFill>
                  <a:srgbClr val="CCCCCC"/>
                </a:solidFill>
                <a:latin typeface="Consolas"/>
              </a:rPr>
              <a:t>: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CCCCCC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rgbClr val="CCCCCC"/>
                </a:solidFill>
                <a:latin typeface="Consolas"/>
              </a:rPr>
              <a:t>    </a:t>
            </a:r>
            <a:r>
              <a:rPr lang="en-GB" sz="2000" b="0" strike="noStrike" spc="-1">
                <a:solidFill>
                  <a:srgbClr val="569CD6"/>
                </a:solidFill>
                <a:latin typeface="Consolas"/>
              </a:rPr>
              <a:t>build</a:t>
            </a:r>
            <a:r>
              <a:rPr lang="en-GB" sz="2000" b="0" strike="noStrike" spc="-1">
                <a:solidFill>
                  <a:srgbClr val="CCCCCC"/>
                </a:solidFill>
                <a:latin typeface="Consolas"/>
              </a:rPr>
              <a:t>: 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CCCCCC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rgbClr val="CCCCCC"/>
                </a:solidFill>
                <a:latin typeface="Consolas"/>
              </a:rPr>
              <a:t>      </a:t>
            </a:r>
            <a:r>
              <a:rPr lang="en-GB" sz="2000" b="0" strike="noStrike" spc="-1">
                <a:solidFill>
                  <a:srgbClr val="569CD6"/>
                </a:solidFill>
                <a:latin typeface="Consolas"/>
              </a:rPr>
              <a:t>context</a:t>
            </a:r>
            <a:r>
              <a:rPr lang="en-GB" sz="2000" b="0" strike="noStrike" spc="-1">
                <a:solidFill>
                  <a:srgbClr val="CCCCCC"/>
                </a:solidFill>
                <a:latin typeface="Consolas"/>
              </a:rPr>
              <a:t>: </a:t>
            </a:r>
            <a:r>
              <a:rPr lang="en-GB" sz="2000" b="0" strike="noStrike" spc="-1">
                <a:solidFill>
                  <a:srgbClr val="B5CEA8"/>
                </a:solidFill>
                <a:latin typeface="Consolas"/>
              </a:rPr>
              <a:t>.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CCCCCC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rgbClr val="CCCCCC"/>
                </a:solidFill>
                <a:latin typeface="Consolas"/>
              </a:rPr>
              <a:t>      </a:t>
            </a:r>
            <a:r>
              <a:rPr lang="en-GB" sz="2000" b="0" strike="noStrike" spc="-1">
                <a:solidFill>
                  <a:srgbClr val="569CD6"/>
                </a:solidFill>
                <a:latin typeface="Consolas"/>
              </a:rPr>
              <a:t>dockerfile</a:t>
            </a:r>
            <a:r>
              <a:rPr lang="en-GB" sz="2000" b="0" strike="noStrike" spc="-1">
                <a:solidFill>
                  <a:srgbClr val="CCCCCC"/>
                </a:solidFill>
                <a:latin typeface="Consolas"/>
              </a:rPr>
              <a:t>: </a:t>
            </a:r>
            <a:r>
              <a:rPr lang="en-GB" sz="2000" b="0" strike="noStrike" spc="-1">
                <a:solidFill>
                  <a:srgbClr val="CE9178"/>
                </a:solidFill>
                <a:latin typeface="Consolas"/>
              </a:rPr>
              <a:t>Dockerfile1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CCCCCC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rgbClr val="CCCCCC"/>
                </a:solidFill>
                <a:latin typeface="Consolas"/>
              </a:rPr>
              <a:t>    </a:t>
            </a:r>
            <a:r>
              <a:rPr lang="en-GB" sz="2000" b="0" strike="noStrike" spc="-1">
                <a:solidFill>
                  <a:srgbClr val="569CD6"/>
                </a:solidFill>
                <a:latin typeface="Consolas"/>
              </a:rPr>
              <a:t>tty</a:t>
            </a:r>
            <a:r>
              <a:rPr lang="en-GB" sz="2000" b="0" strike="noStrike" spc="-1">
                <a:solidFill>
                  <a:srgbClr val="CCCCCC"/>
                </a:solidFill>
                <a:latin typeface="Consolas"/>
              </a:rPr>
              <a:t>: </a:t>
            </a:r>
            <a:r>
              <a:rPr lang="en-GB" sz="2000" b="0" strike="noStrike" spc="-1">
                <a:solidFill>
                  <a:srgbClr val="569CD6"/>
                </a:solidFill>
                <a:latin typeface="Consolas"/>
              </a:rPr>
              <a:t>true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CCCCCC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rgbClr val="CCCCCC"/>
                </a:solidFill>
                <a:latin typeface="Consolas"/>
              </a:rPr>
              <a:t>    </a:t>
            </a:r>
            <a:r>
              <a:rPr lang="en-GB" sz="2000" b="0" strike="noStrike" spc="-1">
                <a:solidFill>
                  <a:srgbClr val="569CD6"/>
                </a:solidFill>
                <a:latin typeface="Consolas"/>
              </a:rPr>
              <a:t>stdin_open</a:t>
            </a:r>
            <a:r>
              <a:rPr lang="en-GB" sz="2000" b="0" strike="noStrike" spc="-1">
                <a:solidFill>
                  <a:srgbClr val="CCCCCC"/>
                </a:solidFill>
                <a:latin typeface="Consolas"/>
              </a:rPr>
              <a:t>: </a:t>
            </a:r>
            <a:r>
              <a:rPr lang="en-GB" sz="2000" b="0" strike="noStrike" spc="-1">
                <a:solidFill>
                  <a:srgbClr val="569CD6"/>
                </a:solidFill>
                <a:latin typeface="Consolas"/>
              </a:rPr>
              <a:t>true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CCCCCC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rgbClr val="CCCCCC"/>
                </a:solidFill>
                <a:latin typeface="Consolas"/>
              </a:rPr>
              <a:t>    </a:t>
            </a:r>
            <a:r>
              <a:rPr lang="en-GB" sz="2000" b="0" strike="noStrike" spc="-1">
                <a:solidFill>
                  <a:srgbClr val="569CD6"/>
                </a:solidFill>
                <a:latin typeface="Consolas"/>
              </a:rPr>
              <a:t>volumes</a:t>
            </a:r>
            <a:r>
              <a:rPr lang="en-GB" sz="2000" b="0" strike="noStrike" spc="-1">
                <a:solidFill>
                  <a:srgbClr val="CCCCCC"/>
                </a:solidFill>
                <a:latin typeface="Consolas"/>
              </a:rPr>
              <a:t>: 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CCCCCC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rgbClr val="CCCCCC"/>
                </a:solidFill>
                <a:latin typeface="Consolas"/>
              </a:rPr>
              <a:t>      - </a:t>
            </a:r>
            <a:r>
              <a:rPr lang="en-GB" sz="2000" b="0" strike="noStrike" spc="-1">
                <a:solidFill>
                  <a:srgbClr val="CE9178"/>
                </a:solidFill>
                <a:latin typeface="Consolas"/>
              </a:rPr>
              <a:t>./data:/data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CCCCCC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rgbClr val="CCCCCC"/>
                </a:solidFill>
                <a:latin typeface="Consolas"/>
              </a:rPr>
              <a:t>    </a:t>
            </a:r>
            <a:r>
              <a:rPr lang="en-GB" sz="2000" b="0" strike="noStrike" spc="-1">
                <a:solidFill>
                  <a:srgbClr val="569CD6"/>
                </a:solidFill>
                <a:latin typeface="Consolas"/>
              </a:rPr>
              <a:t>ports</a:t>
            </a:r>
            <a:r>
              <a:rPr lang="en-GB" sz="2000" b="0" strike="noStrike" spc="-1">
                <a:solidFill>
                  <a:srgbClr val="CCCCCC"/>
                </a:solidFill>
                <a:latin typeface="Consolas"/>
              </a:rPr>
              <a:t>: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CCCCCC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rgbClr val="CCCCCC"/>
                </a:solidFill>
                <a:latin typeface="Consolas"/>
              </a:rPr>
              <a:t>      - </a:t>
            </a:r>
            <a:r>
              <a:rPr lang="en-GB" sz="2000" b="0" strike="noStrike" spc="-1">
                <a:solidFill>
                  <a:srgbClr val="CE9178"/>
                </a:solidFill>
                <a:latin typeface="Consolas"/>
              </a:rPr>
              <a:t>80:90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CCCCCC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rgbClr val="CCCCCC"/>
                </a:solidFill>
                <a:latin typeface="Consolas"/>
              </a:rPr>
              <a:t>      - </a:t>
            </a:r>
            <a:r>
              <a:rPr lang="en-GB" sz="2000" b="0" strike="noStrike" spc="-1">
                <a:solidFill>
                  <a:srgbClr val="CE9178"/>
                </a:solidFill>
                <a:latin typeface="Consolas"/>
              </a:rPr>
              <a:t>1500:1500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120000"/>
              </a:lnSpc>
              <a:spcBef>
                <a:spcPts val="1001"/>
              </a:spcBef>
              <a:buClr>
                <a:srgbClr val="CCCCCC"/>
              </a:buClr>
              <a:buFont typeface="Arial"/>
              <a:buChar char="•"/>
              <a:tabLst>
                <a:tab pos="0" algn="l"/>
              </a:tabLst>
            </a:pPr>
            <a:r>
              <a:rPr lang="en-GB" sz="2000" b="0" strike="noStrike" spc="-1">
                <a:solidFill>
                  <a:srgbClr val="CCCCCC"/>
                </a:solidFill>
                <a:latin typeface="Consolas"/>
              </a:rPr>
              <a:t>    </a:t>
            </a:r>
            <a:r>
              <a:rPr lang="en-GB" sz="2000" b="0" strike="noStrike" spc="-1">
                <a:solidFill>
                  <a:srgbClr val="569CD6"/>
                </a:solidFill>
                <a:latin typeface="Consolas"/>
              </a:rPr>
              <a:t>image</a:t>
            </a:r>
            <a:r>
              <a:rPr lang="en-GB" sz="2000" b="0" strike="noStrike" spc="-1">
                <a:solidFill>
                  <a:srgbClr val="CCCCCC"/>
                </a:solidFill>
                <a:latin typeface="Consolas"/>
              </a:rPr>
              <a:t>: </a:t>
            </a:r>
            <a:r>
              <a:rPr lang="en-GB" sz="2000" b="0" strike="noStrike" spc="-1">
                <a:solidFill>
                  <a:srgbClr val="CE9178"/>
                </a:solidFill>
                <a:latin typeface="Consolas"/>
              </a:rPr>
              <a:t>"hello_world:${HELLO_WORLD_VERSION}"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2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peech Bubble: Oval 4"/>
          <p:cNvSpPr/>
          <p:nvPr/>
        </p:nvSpPr>
        <p:spPr>
          <a:xfrm>
            <a:off x="4344840" y="1583280"/>
            <a:ext cx="7007760" cy="2288160"/>
          </a:xfrm>
          <a:prstGeom prst="wedgeEllipseCallout">
            <a:avLst>
              <a:gd name="adj1" fmla="val -58329"/>
              <a:gd name="adj2" fmla="val 24430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strike="noStrike" spc="-1">
                <a:solidFill>
                  <a:schemeClr val="lt1"/>
                </a:solidFill>
                <a:latin typeface="Aptos"/>
              </a:rPr>
              <a:t>Ako docker slika ne postoji kreira</a:t>
            </a:r>
            <a:r>
              <a:rPr lang="sr-Latn-RS" sz="1800" b="0" strike="noStrike" spc="-1">
                <a:solidFill>
                  <a:schemeClr val="lt1"/>
                </a:solidFill>
                <a:latin typeface="Aptos"/>
              </a:rPr>
              <a:t>će se prilikom prvog pokretanja naredbe </a:t>
            </a:r>
            <a:r>
              <a:rPr lang="sr-Latn-RS" sz="1800" b="1" strike="noStrike" spc="-1">
                <a:solidFill>
                  <a:schemeClr val="lt1"/>
                </a:solidFill>
                <a:latin typeface="Aptos"/>
              </a:rPr>
              <a:t>docker compose up</a:t>
            </a:r>
            <a:r>
              <a:rPr lang="sr-Latn-RS" sz="1800" b="0" strike="noStrike" spc="-1">
                <a:solidFill>
                  <a:schemeClr val="lt1"/>
                </a:solidFill>
                <a:latin typeface="Aptos"/>
              </a:rPr>
              <a:t>. Sliku možemo da napraviimo pokretanjem naredbe </a:t>
            </a:r>
            <a:r>
              <a:rPr lang="sr-Latn-RS" sz="1800" b="1" strike="noStrike" spc="-1">
                <a:solidFill>
                  <a:schemeClr val="lt1"/>
                </a:solidFill>
                <a:latin typeface="Aptos"/>
              </a:rPr>
              <a:t>docker compose build.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EA1DC09F-B22B-4C07-A52D-1CAC60559CFA}" type="slidenum">
              <a:t>36</a:t>
            </a:fld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Docker compose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91440" indent="-228600" defTabSz="914400">
              <a:lnSpc>
                <a:spcPct val="120000"/>
              </a:lnSpc>
              <a:buClr>
                <a:srgbClr val="569CD6"/>
              </a:buClr>
              <a:buFont typeface="Arial"/>
              <a:buChar char="•"/>
            </a:pPr>
            <a:r>
              <a:rPr lang="en-GB" sz="1200" b="0" strike="noStrike" spc="-1">
                <a:solidFill>
                  <a:srgbClr val="569CD6"/>
                </a:solidFill>
                <a:latin typeface="Consolas"/>
              </a:rPr>
              <a:t>services</a:t>
            </a: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: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91440" indent="-228600" defTabSz="914400">
              <a:lnSpc>
                <a:spcPct val="120000"/>
              </a:lnSpc>
              <a:buClr>
                <a:srgbClr val="CCCCCC"/>
              </a:buClr>
              <a:buFont typeface="Arial"/>
              <a:buChar char="•"/>
            </a:pP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  </a:t>
            </a:r>
            <a:r>
              <a:rPr lang="en-GB" sz="1200" b="0" strike="noStrike" spc="-1">
                <a:solidFill>
                  <a:srgbClr val="569CD6"/>
                </a:solidFill>
                <a:latin typeface="Consolas"/>
              </a:rPr>
              <a:t>hello-world</a:t>
            </a: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: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91440" indent="-228600" defTabSz="914400">
              <a:lnSpc>
                <a:spcPct val="120000"/>
              </a:lnSpc>
              <a:buClr>
                <a:srgbClr val="CCCCCC"/>
              </a:buClr>
              <a:buFont typeface="Arial"/>
              <a:buChar char="•"/>
            </a:pP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    </a:t>
            </a:r>
            <a:r>
              <a:rPr lang="en-GB" sz="1200" b="0" strike="noStrike" spc="-1">
                <a:solidFill>
                  <a:srgbClr val="569CD6"/>
                </a:solidFill>
                <a:latin typeface="Consolas"/>
              </a:rPr>
              <a:t>build</a:t>
            </a: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: 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91440" indent="-228600" defTabSz="914400">
              <a:lnSpc>
                <a:spcPct val="120000"/>
              </a:lnSpc>
              <a:buClr>
                <a:srgbClr val="CCCCCC"/>
              </a:buClr>
              <a:buFont typeface="Arial"/>
              <a:buChar char="•"/>
            </a:pP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      </a:t>
            </a:r>
            <a:r>
              <a:rPr lang="en-GB" sz="1200" b="0" strike="noStrike" spc="-1">
                <a:solidFill>
                  <a:srgbClr val="569CD6"/>
                </a:solidFill>
                <a:latin typeface="Consolas"/>
              </a:rPr>
              <a:t>context</a:t>
            </a: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: </a:t>
            </a:r>
            <a:r>
              <a:rPr lang="en-GB" sz="1200" b="0" strike="noStrike" spc="-1">
                <a:solidFill>
                  <a:srgbClr val="B5CEA8"/>
                </a:solidFill>
                <a:latin typeface="Consolas"/>
              </a:rPr>
              <a:t>.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91440" indent="-228600" defTabSz="914400">
              <a:lnSpc>
                <a:spcPct val="120000"/>
              </a:lnSpc>
              <a:buClr>
                <a:srgbClr val="CCCCCC"/>
              </a:buClr>
              <a:buFont typeface="Arial"/>
              <a:buChar char="•"/>
            </a:pP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      </a:t>
            </a:r>
            <a:r>
              <a:rPr lang="en-GB" sz="1200" b="0" strike="noStrike" spc="-1">
                <a:solidFill>
                  <a:srgbClr val="569CD6"/>
                </a:solidFill>
                <a:latin typeface="Consolas"/>
              </a:rPr>
              <a:t>dockerfile</a:t>
            </a: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: </a:t>
            </a:r>
            <a:r>
              <a:rPr lang="en-GB" sz="1200" b="0" strike="noStrike" spc="-1">
                <a:solidFill>
                  <a:srgbClr val="CE9178"/>
                </a:solidFill>
                <a:latin typeface="Consolas"/>
              </a:rPr>
              <a:t>Dockerfile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91440" indent="-228600" defTabSz="914400">
              <a:lnSpc>
                <a:spcPct val="120000"/>
              </a:lnSpc>
              <a:buClr>
                <a:srgbClr val="CCCCCC"/>
              </a:buClr>
              <a:buFont typeface="Arial"/>
              <a:buChar char="•"/>
            </a:pP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    </a:t>
            </a:r>
            <a:r>
              <a:rPr lang="en-GB" sz="1200" b="0" strike="noStrike" spc="-1">
                <a:solidFill>
                  <a:srgbClr val="569CD6"/>
                </a:solidFill>
                <a:latin typeface="Consolas"/>
              </a:rPr>
              <a:t>tty</a:t>
            </a: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: </a:t>
            </a:r>
            <a:r>
              <a:rPr lang="en-GB" sz="1200" b="0" strike="noStrike" spc="-1">
                <a:solidFill>
                  <a:srgbClr val="569CD6"/>
                </a:solidFill>
                <a:latin typeface="Consolas"/>
              </a:rPr>
              <a:t>true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91440" indent="-228600" defTabSz="914400">
              <a:lnSpc>
                <a:spcPct val="120000"/>
              </a:lnSpc>
              <a:buClr>
                <a:srgbClr val="CCCCCC"/>
              </a:buClr>
              <a:buFont typeface="Arial"/>
              <a:buChar char="•"/>
            </a:pP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    </a:t>
            </a:r>
            <a:r>
              <a:rPr lang="en-GB" sz="1200" b="0" strike="noStrike" spc="-1">
                <a:solidFill>
                  <a:srgbClr val="569CD6"/>
                </a:solidFill>
                <a:latin typeface="Consolas"/>
              </a:rPr>
              <a:t>stdin_open</a:t>
            </a: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: </a:t>
            </a:r>
            <a:r>
              <a:rPr lang="en-GB" sz="1200" b="0" strike="noStrike" spc="-1">
                <a:solidFill>
                  <a:srgbClr val="569CD6"/>
                </a:solidFill>
                <a:latin typeface="Consolas"/>
              </a:rPr>
              <a:t>true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91440" indent="-228600" defTabSz="914400">
              <a:lnSpc>
                <a:spcPct val="120000"/>
              </a:lnSpc>
              <a:buClr>
                <a:srgbClr val="CCCCCC"/>
              </a:buClr>
              <a:buFont typeface="Arial"/>
              <a:buChar char="•"/>
            </a:pP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    </a:t>
            </a:r>
            <a:r>
              <a:rPr lang="en-GB" sz="1200" b="0" strike="noStrike" spc="-1">
                <a:solidFill>
                  <a:srgbClr val="569CD6"/>
                </a:solidFill>
                <a:latin typeface="Consolas"/>
              </a:rPr>
              <a:t>volumes</a:t>
            </a: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: 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91440" indent="-228600" defTabSz="914400">
              <a:lnSpc>
                <a:spcPct val="120000"/>
              </a:lnSpc>
              <a:buClr>
                <a:srgbClr val="CCCCCC"/>
              </a:buClr>
              <a:buFont typeface="Arial"/>
              <a:buChar char="•"/>
            </a:pP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      - </a:t>
            </a:r>
            <a:r>
              <a:rPr lang="en-GB" sz="1200" b="0" strike="noStrike" spc="-1">
                <a:solidFill>
                  <a:srgbClr val="CE9178"/>
                </a:solidFill>
                <a:latin typeface="Consolas"/>
              </a:rPr>
              <a:t>./data:/data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91440" indent="-228600" defTabSz="914400">
              <a:lnSpc>
                <a:spcPct val="120000"/>
              </a:lnSpc>
              <a:buClr>
                <a:srgbClr val="CCCCCC"/>
              </a:buClr>
              <a:buFont typeface="Arial"/>
              <a:buChar char="•"/>
            </a:pP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      - </a:t>
            </a:r>
            <a:r>
              <a:rPr lang="en-GB" sz="1200" b="0" strike="noStrike" spc="-1">
                <a:solidFill>
                  <a:srgbClr val="CE9178"/>
                </a:solidFill>
                <a:latin typeface="Consolas"/>
              </a:rPr>
              <a:t>my_volume1:/src/data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91440" indent="-228600" defTabSz="914400">
              <a:lnSpc>
                <a:spcPct val="120000"/>
              </a:lnSpc>
              <a:buClr>
                <a:srgbClr val="CCCCCC"/>
              </a:buClr>
              <a:buFont typeface="Arial"/>
              <a:buChar char="•"/>
            </a:pP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      - </a:t>
            </a:r>
            <a:r>
              <a:rPr lang="en-GB" sz="1200" b="0" strike="noStrike" spc="-1">
                <a:solidFill>
                  <a:srgbClr val="CE9178"/>
                </a:solidFill>
                <a:latin typeface="Consolas"/>
              </a:rPr>
              <a:t>my_volume2:/src/data1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91440" indent="-228600" defTabSz="914400">
              <a:lnSpc>
                <a:spcPct val="120000"/>
              </a:lnSpc>
              <a:buClr>
                <a:srgbClr val="CCCCCC"/>
              </a:buClr>
              <a:buFont typeface="Arial"/>
              <a:buChar char="•"/>
            </a:pP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    </a:t>
            </a:r>
            <a:r>
              <a:rPr lang="en-GB" sz="1200" b="0" strike="noStrike" spc="-1">
                <a:solidFill>
                  <a:srgbClr val="569CD6"/>
                </a:solidFill>
                <a:latin typeface="Consolas"/>
              </a:rPr>
              <a:t>ports</a:t>
            </a: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: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91440" indent="-228600" defTabSz="914400">
              <a:lnSpc>
                <a:spcPct val="120000"/>
              </a:lnSpc>
              <a:buClr>
                <a:srgbClr val="CCCCCC"/>
              </a:buClr>
              <a:buFont typeface="Arial"/>
              <a:buChar char="•"/>
            </a:pP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      - </a:t>
            </a:r>
            <a:r>
              <a:rPr lang="en-GB" sz="1200" b="0" strike="noStrike" spc="-1">
                <a:solidFill>
                  <a:srgbClr val="CE9178"/>
                </a:solidFill>
                <a:latin typeface="Consolas"/>
              </a:rPr>
              <a:t>80:90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91440" indent="-228600" defTabSz="914400">
              <a:lnSpc>
                <a:spcPct val="120000"/>
              </a:lnSpc>
              <a:buClr>
                <a:srgbClr val="CCCCCC"/>
              </a:buClr>
              <a:buFont typeface="Arial"/>
              <a:buChar char="•"/>
            </a:pP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      - </a:t>
            </a:r>
            <a:r>
              <a:rPr lang="en-GB" sz="1200" b="0" strike="noStrike" spc="-1">
                <a:solidFill>
                  <a:srgbClr val="CE9178"/>
                </a:solidFill>
                <a:latin typeface="Consolas"/>
              </a:rPr>
              <a:t>1500:1500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91440" indent="-228600" defTabSz="914400">
              <a:lnSpc>
                <a:spcPct val="120000"/>
              </a:lnSpc>
              <a:buClr>
                <a:srgbClr val="CCCCCC"/>
              </a:buClr>
              <a:buFont typeface="Arial"/>
              <a:buChar char="•"/>
            </a:pP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    </a:t>
            </a:r>
            <a:r>
              <a:rPr lang="en-GB" sz="1200" b="0" strike="noStrike" spc="-1">
                <a:solidFill>
                  <a:srgbClr val="569CD6"/>
                </a:solidFill>
                <a:latin typeface="Consolas"/>
              </a:rPr>
              <a:t>image</a:t>
            </a: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: </a:t>
            </a:r>
            <a:r>
              <a:rPr lang="en-GB" sz="1200" b="0" strike="noStrike" spc="-1">
                <a:solidFill>
                  <a:srgbClr val="CE9178"/>
                </a:solidFill>
                <a:latin typeface="Consolas"/>
              </a:rPr>
              <a:t>"hello_world:${HELLO_WORLD_VERSION}"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91440" indent="-228600" defTabSz="914400">
              <a:lnSpc>
                <a:spcPct val="120000"/>
              </a:lnSpc>
              <a:buClr>
                <a:srgbClr val="CCCCCC"/>
              </a:buClr>
              <a:buFont typeface="Arial"/>
              <a:buChar char="•"/>
            </a:pPr>
            <a:br>
              <a:rPr sz="1200"/>
            </a:br>
            <a:r>
              <a:rPr lang="en-GB" sz="1200" b="0" strike="noStrike" spc="-1">
                <a:solidFill>
                  <a:srgbClr val="569CD6"/>
                </a:solidFill>
                <a:latin typeface="Consolas"/>
              </a:rPr>
              <a:t>volumes</a:t>
            </a: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: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91440" indent="-228600" defTabSz="914400">
              <a:lnSpc>
                <a:spcPct val="120000"/>
              </a:lnSpc>
              <a:buClr>
                <a:srgbClr val="CCCCCC"/>
              </a:buClr>
              <a:buFont typeface="Arial"/>
              <a:buChar char="•"/>
            </a:pP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  </a:t>
            </a:r>
            <a:r>
              <a:rPr lang="en-GB" sz="1200" b="0" strike="noStrike" spc="-1">
                <a:solidFill>
                  <a:srgbClr val="569CD6"/>
                </a:solidFill>
                <a:latin typeface="Consolas"/>
              </a:rPr>
              <a:t>my_volume1</a:t>
            </a: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: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marL="91440" indent="-228600" defTabSz="914400">
              <a:lnSpc>
                <a:spcPct val="120000"/>
              </a:lnSpc>
              <a:buClr>
                <a:srgbClr val="CCCCCC"/>
              </a:buClr>
              <a:buFont typeface="Arial"/>
              <a:buChar char="•"/>
            </a:pP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  </a:t>
            </a:r>
            <a:r>
              <a:rPr lang="en-GB" sz="1200" b="0" strike="noStrike" spc="-1">
                <a:solidFill>
                  <a:srgbClr val="569CD6"/>
                </a:solidFill>
                <a:latin typeface="Consolas"/>
              </a:rPr>
              <a:t>my_volume2</a:t>
            </a:r>
            <a:r>
              <a:rPr lang="en-GB" sz="1200" b="0" strike="noStrike" spc="-1">
                <a:solidFill>
                  <a:srgbClr val="CCCCCC"/>
                </a:solidFill>
                <a:latin typeface="Consolas"/>
              </a:rPr>
              <a:t>: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120000"/>
              </a:lnSpc>
              <a:buNone/>
              <a:tabLst>
                <a:tab pos="0" algn="l"/>
              </a:tabLst>
            </a:pP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peech Bubble: Oval 4"/>
          <p:cNvSpPr/>
          <p:nvPr/>
        </p:nvSpPr>
        <p:spPr>
          <a:xfrm>
            <a:off x="5780880" y="2682000"/>
            <a:ext cx="4939200" cy="2564280"/>
          </a:xfrm>
          <a:prstGeom prst="wedgeEllipseCallout">
            <a:avLst>
              <a:gd name="adj1" fmla="val -68353"/>
              <a:gd name="adj2" fmla="val 64219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strike="noStrike" spc="-1">
                <a:solidFill>
                  <a:schemeClr val="lt1"/>
                </a:solidFill>
                <a:latin typeface="Aptos"/>
              </a:rPr>
              <a:t>my_volume1 i my_volume2 se kreiraju automatski ako ve</a:t>
            </a:r>
            <a:r>
              <a:rPr lang="sr-Latn-RS" sz="1800" b="0" strike="noStrike" spc="-1">
                <a:solidFill>
                  <a:schemeClr val="lt1"/>
                </a:solidFill>
                <a:latin typeface="Aptos"/>
              </a:rPr>
              <a:t>ć ne postoje prilikom prvog pokretanja kontjenera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EC6E401D-4E90-43B0-A440-DEF5253E1714}" type="slidenum">
              <a:t>37</a:t>
            </a:fld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Docker compose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Da zaustavimo kontejnere koje smo pokrenuli pomoću docker compose up, možemo da koristimo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sr-Latn-RS" sz="2800" b="1" strike="noStrike" spc="-1">
                <a:solidFill>
                  <a:schemeClr val="dk1"/>
                </a:solidFill>
                <a:latin typeface="Aptos"/>
              </a:rPr>
              <a:t>	docker compose down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ili ručno da ih uklanjamo pomoću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r>
              <a:rPr lang="sr-Latn-RS" sz="2400" b="1" strike="noStrike" spc="-1">
                <a:solidFill>
                  <a:schemeClr val="dk1"/>
                </a:solidFill>
                <a:latin typeface="Aptos"/>
              </a:rPr>
              <a:t>	</a:t>
            </a:r>
            <a:r>
              <a:rPr lang="sr-Latn-RS" sz="2800" b="1" strike="noStrike" spc="-1">
                <a:solidFill>
                  <a:schemeClr val="dk1"/>
                </a:solidFill>
                <a:latin typeface="Aptos"/>
              </a:rPr>
              <a:t>docker stop ...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r>
              <a:rPr lang="sr-Latn-RS" sz="2800" b="1" strike="noStrike" spc="-1">
                <a:solidFill>
                  <a:schemeClr val="dk1"/>
                </a:solidFill>
                <a:latin typeface="Aptos"/>
              </a:rPr>
              <a:t>	docker rm ...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EEE46E5E-E848-470F-9B07-DCF5803551EE}" type="slidenum">
              <a:t>38</a:t>
            </a:fld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Korisnici unutar docker kontejnera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Podrazumijevano korisnik unutar docker kontejnera ima UID 0, to je root korisnik 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Nije dobro da sve izvršavamo kao root zbog bezbijednosti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Ako neko „provali“ u kontejner može da uradi šta god poželi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Uz još par loših izobra vezanih za bezbijednost može da dobije i pristup host operativnom sistemu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5E61537F-DD1A-4D6D-A00E-140EA875A385}" type="slidenum">
              <a:t>39</a:t>
            </a:fld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Docker image repositories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800" b="0" u="sng" strike="noStrike" spc="-1">
                <a:solidFill>
                  <a:schemeClr val="dk1"/>
                </a:solidFill>
                <a:uFillTx/>
                <a:latin typeface="Aptos"/>
                <a:hlinkClick r:id="rId2"/>
              </a:rPr>
              <a:t>https://hub.docker.com/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5" name="Picture 204"/>
          <p:cNvPicPr/>
          <p:nvPr/>
        </p:nvPicPr>
        <p:blipFill>
          <a:blip r:embed="rId3"/>
          <a:stretch/>
        </p:blipFill>
        <p:spPr>
          <a:xfrm>
            <a:off x="2357280" y="2514600"/>
            <a:ext cx="7476840" cy="34282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8AD35CD2-27E0-4818-9179-1B84784D2C42}" type="slidenum">
              <a:t>40</a:t>
            </a:fld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Korisnici unutar docker kontejnera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PlaceHolder 2"/>
          <p:cNvSpPr>
            <a:spLocks noGrp="1"/>
          </p:cNvSpPr>
          <p:nvPr>
            <p:ph/>
          </p:nvPr>
        </p:nvSpPr>
        <p:spPr>
          <a:xfrm>
            <a:off x="686160" y="182124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sr-Latn-RS" sz="2800" b="0" strike="noStrike" spc="-1">
                <a:solidFill>
                  <a:schemeClr val="dk1"/>
                </a:solidFill>
                <a:latin typeface="Aptos"/>
              </a:rPr>
              <a:t>Treba da kreiramo novog korisnika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2000" b="0" strike="noStrike" spc="-1">
                <a:solidFill>
                  <a:schemeClr val="dk1"/>
                </a:solidFill>
                <a:latin typeface="Aptos"/>
              </a:rPr>
              <a:t>ARG HOST_USER_ID=1000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2000" b="0" strike="noStrike" spc="-1">
                <a:solidFill>
                  <a:schemeClr val="dk1"/>
                </a:solidFill>
                <a:latin typeface="Aptos"/>
              </a:rPr>
              <a:t>ARG HOST_USER_NAMEARG=usergroup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2000" b="0" strike="noStrike" spc="-1">
                <a:solidFill>
                  <a:schemeClr val="dk1"/>
                </a:solidFill>
                <a:latin typeface="Aptos"/>
              </a:rPr>
              <a:t>HOST_GROUP_IDARG=1000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2000" b="0" strike="noStrike" spc="-1">
                <a:solidFill>
                  <a:schemeClr val="dk1"/>
                </a:solidFill>
                <a:latin typeface="Aptos"/>
              </a:rPr>
              <a:t>HOST_GROUP_NAME=user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2000" b="1" strike="noStrike" spc="-1">
                <a:solidFill>
                  <a:schemeClr val="dk1"/>
                </a:solidFill>
                <a:latin typeface="Aptos"/>
              </a:rPr>
              <a:t>RUN</a:t>
            </a:r>
            <a:r>
              <a:rPr lang="sr-Latn-RS" sz="2000" b="0" strike="noStrike" spc="-1">
                <a:solidFill>
                  <a:schemeClr val="dk1"/>
                </a:solidFill>
                <a:latin typeface="Aptos"/>
              </a:rPr>
              <a:t> groupadd -g $HOST_GROUP_ID $HOST_GROUP_NAME &amp;&amp; \ 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1296000" indent="0" defTabSz="914400">
              <a:lnSpc>
                <a:spcPct val="90000"/>
              </a:lnSpc>
              <a:spcBef>
                <a:spcPts val="850"/>
              </a:spcBef>
              <a:buNone/>
              <a:tabLst>
                <a:tab pos="0" algn="l"/>
              </a:tabLst>
            </a:pPr>
            <a:r>
              <a:rPr lang="sr-Latn-RS" sz="2000" b="0" strike="noStrike" spc="-1">
                <a:solidFill>
                  <a:schemeClr val="dk1"/>
                </a:solidFill>
                <a:latin typeface="Aptos"/>
              </a:rPr>
              <a:t>   useradd -g $HOST_GROUP_ID -u $HOST_USER_ID $HOST_USER_NAME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1296000" indent="0" defTabSz="914400">
              <a:lnSpc>
                <a:spcPct val="90000"/>
              </a:lnSpc>
              <a:spcBef>
                <a:spcPts val="850"/>
              </a:spcBef>
              <a:buNone/>
              <a:tabLst>
                <a:tab pos="0" algn="l"/>
              </a:tabLst>
            </a:pP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sr-Latn-RS" sz="2000" b="1" strike="noStrike" spc="-1">
                <a:solidFill>
                  <a:schemeClr val="dk1"/>
                </a:solidFill>
                <a:latin typeface="Aptos"/>
              </a:rPr>
              <a:t>RUN</a:t>
            </a:r>
            <a:r>
              <a:rPr lang="sr-Latn-RS" sz="2000" b="0" strike="noStrike" spc="-1">
                <a:solidFill>
                  <a:schemeClr val="dk1"/>
                </a:solidFill>
                <a:latin typeface="Aptos"/>
              </a:rPr>
              <a:t> mkdir src &amp;&amp; chown ${HOST_GROUP_NAME} src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sr-Latn-RS" sz="2000" b="1" strike="noStrike" spc="-1">
                <a:solidFill>
                  <a:schemeClr val="dk1"/>
                </a:solidFill>
                <a:latin typeface="Aptos"/>
              </a:rPr>
              <a:t>USER</a:t>
            </a:r>
            <a:r>
              <a:rPr lang="sr-Latn-RS" sz="2000" b="0" strike="noStrike" spc="-1">
                <a:solidFill>
                  <a:schemeClr val="dk1"/>
                </a:solidFill>
                <a:latin typeface="Aptos"/>
              </a:rPr>
              <a:t> ${HOST_USER_NAME}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1296000" indent="0" defTabSz="914400">
              <a:lnSpc>
                <a:spcPct val="90000"/>
              </a:lnSpc>
              <a:spcBef>
                <a:spcPts val="850"/>
              </a:spcBef>
              <a:buNone/>
              <a:tabLst>
                <a:tab pos="0" algn="l"/>
              </a:tabLst>
            </a:pP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12960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peech Bubble: Oval 1"/>
          <p:cNvSpPr/>
          <p:nvPr/>
        </p:nvSpPr>
        <p:spPr>
          <a:xfrm>
            <a:off x="7315200" y="1592640"/>
            <a:ext cx="2742480" cy="1378440"/>
          </a:xfrm>
          <a:prstGeom prst="wedgeEllipseCallout">
            <a:avLst>
              <a:gd name="adj1" fmla="val -71795"/>
              <a:gd name="adj2" fmla="val 21633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strike="noStrike" spc="-1">
                <a:solidFill>
                  <a:schemeClr val="lt1"/>
                </a:solidFill>
                <a:latin typeface="Aptos"/>
              </a:rPr>
              <a:t>Kredencijali koje će da ima korisnik kojeg kreiramo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Speech Bubble: Oval 2"/>
          <p:cNvSpPr/>
          <p:nvPr/>
        </p:nvSpPr>
        <p:spPr>
          <a:xfrm>
            <a:off x="9144000" y="2735640"/>
            <a:ext cx="2742480" cy="1378440"/>
          </a:xfrm>
          <a:prstGeom prst="wedgeEllipseCallout">
            <a:avLst>
              <a:gd name="adj1" fmla="val -41549"/>
              <a:gd name="adj2" fmla="val 71711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strike="noStrike" spc="-1">
                <a:solidFill>
                  <a:schemeClr val="lt1"/>
                </a:solidFill>
                <a:latin typeface="Aptos"/>
              </a:rPr>
              <a:t>Kreiramo grupu i novog korisnika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Speech Bubble: Oval 3"/>
          <p:cNvSpPr/>
          <p:nvPr/>
        </p:nvSpPr>
        <p:spPr>
          <a:xfrm>
            <a:off x="8436600" y="5077800"/>
            <a:ext cx="2742480" cy="1378440"/>
          </a:xfrm>
          <a:prstGeom prst="wedgeEllipseCallout">
            <a:avLst>
              <a:gd name="adj1" fmla="val -62924"/>
              <a:gd name="adj2" fmla="val -14613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800" b="0" strike="noStrike" spc="-1">
                <a:solidFill>
                  <a:schemeClr val="lt1"/>
                </a:solidFill>
                <a:latin typeface="Aptos"/>
              </a:rPr>
              <a:t>Napravimo direktorijum za novog korisnika I damo mu vlasništvo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Speech Bubble: Oval 6"/>
          <p:cNvSpPr/>
          <p:nvPr/>
        </p:nvSpPr>
        <p:spPr>
          <a:xfrm>
            <a:off x="5486400" y="5715000"/>
            <a:ext cx="2056680" cy="913680"/>
          </a:xfrm>
          <a:prstGeom prst="wedgeEllipseCallout">
            <a:avLst>
              <a:gd name="adj1" fmla="val -69261"/>
              <a:gd name="adj2" fmla="val -22805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0" strike="noStrike" spc="-1">
                <a:solidFill>
                  <a:schemeClr val="lt1"/>
                </a:solidFill>
                <a:latin typeface="Aptos"/>
              </a:rPr>
              <a:t>Kažemo da je aktivan novi korisnik</a:t>
            </a:r>
            <a:endParaRPr lang="en-US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733B49C8-0EFA-494A-8B45-28E71232E735}" type="slidenum">
              <a:t>41</a:t>
            </a:fld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Korisnici unutar docker kontejnera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686160" y="18291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2499" lnSpcReduction="10000"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Docker build komanda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docker build --build-arg HOST_USER_ID=$(id -u) \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3024000" indent="0">
              <a:lnSpc>
                <a:spcPct val="90000"/>
              </a:lnSpc>
              <a:spcBef>
                <a:spcPts val="283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--build-arg HOST_USER_NAME=$USER 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3024000" indent="0">
              <a:lnSpc>
                <a:spcPct val="90000"/>
              </a:lnSpc>
              <a:spcBef>
                <a:spcPts val="283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--build-arg HOST_GROUP_ID=$(id -g) 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3024000" indent="0">
              <a:lnSpc>
                <a:spcPct val="90000"/>
              </a:lnSpc>
              <a:spcBef>
                <a:spcPts val="283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--build-arg HOST_GROUP_NAME=$USER 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3024000" indent="0">
              <a:lnSpc>
                <a:spcPct val="90000"/>
              </a:lnSpc>
              <a:spcBef>
                <a:spcPts val="283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-t test:v1 .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592000" indent="0">
              <a:lnSpc>
                <a:spcPct val="90000"/>
              </a:lnSpc>
              <a:spcBef>
                <a:spcPts val="283"/>
              </a:spcBef>
              <a:buNone/>
              <a:tabLst>
                <a:tab pos="0" algn="l"/>
              </a:tabLst>
            </a:pP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Docker compose konfiguracija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864000" indent="0">
              <a:lnSpc>
                <a:spcPct val="90000"/>
              </a:lnSpc>
              <a:spcBef>
                <a:spcPts val="1134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build: 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1296000" indent="0">
              <a:lnSpc>
                <a:spcPct val="90000"/>
              </a:lnSpc>
              <a:spcBef>
                <a:spcPts val="85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context: . 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1296000" indent="0">
              <a:lnSpc>
                <a:spcPct val="90000"/>
              </a:lnSpc>
              <a:spcBef>
                <a:spcPts val="85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dockerfile: Dockerfile 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1296000" indent="0">
              <a:lnSpc>
                <a:spcPct val="90000"/>
              </a:lnSpc>
              <a:spcBef>
                <a:spcPts val="85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args: 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1728000" indent="0">
              <a:lnSpc>
                <a:spcPct val="90000"/>
              </a:lnSpc>
              <a:spcBef>
                <a:spcPts val="567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- HOST_USER_ID=1000 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1728000" indent="0">
              <a:lnSpc>
                <a:spcPct val="90000"/>
              </a:lnSpc>
              <a:spcBef>
                <a:spcPts val="567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- HOST_USER_NAME=user 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1728000" indent="0">
              <a:lnSpc>
                <a:spcPct val="90000"/>
              </a:lnSpc>
              <a:spcBef>
                <a:spcPts val="567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- HOST_GROUP_ID=1000 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1728000" indent="0">
              <a:lnSpc>
                <a:spcPct val="90000"/>
              </a:lnSpc>
              <a:spcBef>
                <a:spcPts val="567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/>
                </a:solidFill>
                <a:latin typeface="Aptos"/>
              </a:rPr>
              <a:t>- HOST_GROUP_NAME=user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peech Bubble: Oval 7"/>
          <p:cNvSpPr/>
          <p:nvPr/>
        </p:nvSpPr>
        <p:spPr>
          <a:xfrm>
            <a:off x="7772400" y="1821240"/>
            <a:ext cx="2742480" cy="1378440"/>
          </a:xfrm>
          <a:prstGeom prst="wedgeEllipseCallout">
            <a:avLst>
              <a:gd name="adj1" fmla="val -76020"/>
              <a:gd name="adj2" fmla="val 12265"/>
            </a:avLst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strike="noStrike" spc="-1">
                <a:solidFill>
                  <a:schemeClr val="lt1"/>
                </a:solidFill>
                <a:latin typeface="Aptos"/>
              </a:rPr>
              <a:t>Ako želimo da imamo istog korisnika u kontejneru i u hostu bitno je da imaju iste parametre</a:t>
            </a:r>
            <a:endParaRPr lang="en-US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D41603E8-7ECE-4E35-9876-B8E01587681C}" type="slidenum">
              <a:t>42</a:t>
            </a:fld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sr-Latn-RS" sz="4400" b="0" strike="noStrike" spc="-1">
                <a:solidFill>
                  <a:schemeClr val="dk1"/>
                </a:solidFill>
                <a:latin typeface="Aptos Display"/>
              </a:rPr>
              <a:t>Open Container Initiative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686160" y="18291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strike="noStrike" spc="-1">
                <a:solidFill>
                  <a:schemeClr val="dk1"/>
                </a:solidFill>
                <a:latin typeface="Aptos"/>
              </a:rPr>
              <a:t>OCI (Open Container Initiative) je industrijska saradnja koja ima za cilj kreiranje otvorenih standarda za formate kontejnera. Osnovali su je kompanije kao što su Docker, Google, VMware, Microsoft, Dell, IBM i Oracle. OCI definiše tri primarne specifikacije: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500" b="0" strike="noStrike" spc="-1">
                <a:solidFill>
                  <a:schemeClr val="dk1"/>
                </a:solidFill>
                <a:latin typeface="Aptos"/>
              </a:rPr>
              <a:t>Specifikacija slike (Image Specification): Definiše metapodatke i format slike, uključujući serijalizovani fajl sistem.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500" b="0" strike="noStrike" spc="-1">
                <a:solidFill>
                  <a:schemeClr val="dk1"/>
                </a:solidFill>
                <a:latin typeface="Aptos"/>
              </a:rPr>
              <a:t>Specifikacija izvršavanja (Runtime Specification): Opisuje kako se kontejner pokreće koristeći sliku koja je u skladu sa specifikacijom slike.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500" b="0" strike="noStrike" spc="-1">
                <a:solidFill>
                  <a:schemeClr val="dk1"/>
                </a:solidFill>
                <a:latin typeface="Aptos"/>
              </a:rPr>
              <a:t>Specifikacija distribucije (Distribution Specification): Pruža smernice o načinu distribucije slika, uključujući registre, slanje (pushing) i preuzimanje (pulling) slika.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500" b="0" strike="noStrike" spc="-1">
                <a:solidFill>
                  <a:schemeClr val="dk1"/>
                </a:solidFill>
                <a:latin typeface="Aptos"/>
              </a:rPr>
              <a:t>Docker je konkretna implementacija OCI standarda. Kada se pominju Docker slike ili Docker kontejnerske slike, to se odnosi na Dockerovu primenu OCI specifikacije.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7" name="Picture 216"/>
          <p:cNvPicPr/>
          <p:nvPr/>
        </p:nvPicPr>
        <p:blipFill>
          <a:blip r:embed="rId2"/>
          <a:stretch/>
        </p:blipFill>
        <p:spPr>
          <a:xfrm>
            <a:off x="2057400" y="5029200"/>
            <a:ext cx="3904200" cy="1325880"/>
          </a:xfrm>
          <a:prstGeom prst="rect">
            <a:avLst/>
          </a:prstGeom>
          <a:ln w="0">
            <a:noFill/>
          </a:ln>
        </p:spPr>
      </p:pic>
      <p:pic>
        <p:nvPicPr>
          <p:cNvPr id="218" name="Picture 217"/>
          <p:cNvPicPr/>
          <p:nvPr/>
        </p:nvPicPr>
        <p:blipFill>
          <a:blip r:embed="rId3"/>
          <a:stretch/>
        </p:blipFill>
        <p:spPr>
          <a:xfrm>
            <a:off x="6877440" y="5029200"/>
            <a:ext cx="2951640" cy="125640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DCFEE804-C193-49FB-B6C9-BF2DC28C3D44}" type="slidenum">
              <a:t>43</a:t>
            </a:fld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1014120" y="1450800"/>
            <a:ext cx="3930840" cy="395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sr-Latn-RS" sz="6800" b="0" strike="noStrike" spc="-1">
                <a:solidFill>
                  <a:schemeClr val="lt1"/>
                </a:solidFill>
                <a:latin typeface="Aptos Display"/>
              </a:rPr>
              <a:t>KRAJ</a:t>
            </a:r>
            <a:endParaRPr lang="en-US" sz="68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21" name="Straight Connecto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1014120" y="1450440"/>
            <a:ext cx="3933000" cy="1080"/>
          </a:xfrm>
          <a:prstGeom prst="straightConnector1">
            <a:avLst/>
          </a:prstGeom>
          <a:ln w="0">
            <a:solidFill>
              <a:srgbClr val="E97132"/>
            </a:solidFill>
          </a:ln>
        </p:spPr>
      </p:cxnSp>
      <p:cxnSp>
        <p:nvCxnSpPr>
          <p:cNvPr id="222" name="Straight Connecto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1014120" y="5408280"/>
            <a:ext cx="3933000" cy="1080"/>
          </a:xfrm>
          <a:prstGeom prst="straightConnector1">
            <a:avLst/>
          </a:prstGeom>
          <a:ln w="0">
            <a:solidFill>
              <a:srgbClr val="E97132"/>
            </a:solidFill>
          </a:ln>
        </p:spPr>
      </p:cxnSp>
      <p:sp>
        <p:nvSpPr>
          <p:cNvPr id="223" name="PlaceHolder 2"/>
          <p:cNvSpPr>
            <a:spLocks noGrp="1"/>
          </p:cNvSpPr>
          <p:nvPr>
            <p:ph/>
          </p:nvPr>
        </p:nvSpPr>
        <p:spPr>
          <a:xfrm>
            <a:off x="6095880" y="1108080"/>
            <a:ext cx="5007960" cy="457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34"/>
          </p:nvPr>
        </p:nvSpPr>
        <p:spPr>
          <a:xfrm>
            <a:off x="9303120" y="6356520"/>
            <a:ext cx="20498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  <a:defRPr lang="en-GB" sz="1200" b="0" strike="noStrike" spc="-1">
                <a:solidFill>
                  <a:schemeClr val="lt1">
                    <a:lumMod val="50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7B574B1E-8AF3-4CEF-8793-B1FF5ED9FF86}" type="slidenum">
              <a:rPr lang="en-GB" sz="1200" b="0" strike="noStrike" spc="-1">
                <a:solidFill>
                  <a:schemeClr val="lt1">
                    <a:lumMod val="50000"/>
                  </a:schemeClr>
                </a:solidFill>
                <a:latin typeface="Aptos"/>
              </a:rPr>
              <a:t>44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960</TotalTime>
  <Words>2609</Words>
  <Application>Microsoft Office PowerPoint</Application>
  <PresentationFormat>Widescreen</PresentationFormat>
  <Paragraphs>447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11</vt:i4>
      </vt:variant>
      <vt:variant>
        <vt:lpstr>Slide Titles</vt:lpstr>
      </vt:variant>
      <vt:variant>
        <vt:i4>44</vt:i4>
      </vt:variant>
    </vt:vector>
  </HeadingPairs>
  <TitlesOfParts>
    <vt:vector size="64" baseType="lpstr">
      <vt:lpstr>Aptos</vt:lpstr>
      <vt:lpstr>Aptos Display</vt:lpstr>
      <vt:lpstr>Arial</vt:lpstr>
      <vt:lpstr>Consolas</vt:lpstr>
      <vt:lpstr>Symbol</vt:lpstr>
      <vt:lpstr>Times New Roman</vt:lpstr>
      <vt:lpstr>ui-monospace</vt:lpstr>
      <vt:lpstr>ui-sans-serif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Docker</vt:lpstr>
      <vt:lpstr>Motivacija</vt:lpstr>
      <vt:lpstr>Motivacija</vt:lpstr>
      <vt:lpstr>Šta je kontejner</vt:lpstr>
      <vt:lpstr>Evolucija Virtualizacije</vt:lpstr>
      <vt:lpstr>Evolucija Virtualizacije</vt:lpstr>
      <vt:lpstr>Evolucija Virtualizacije</vt:lpstr>
      <vt:lpstr>Instalacija Docker engine-a</vt:lpstr>
      <vt:lpstr>Pokretanje docker containera</vt:lpstr>
      <vt:lpstr>Pokretanje docker containera</vt:lpstr>
      <vt:lpstr>Pokretanje docker containera</vt:lpstr>
      <vt:lpstr>Fajl sistem kontejnera</vt:lpstr>
      <vt:lpstr>Kontejner koji se čuva i nakon što se zaustavi</vt:lpstr>
      <vt:lpstr>Kreiranje docker slike sa instaliranim softverom</vt:lpstr>
      <vt:lpstr>Podaci u docker kontejneru</vt:lpstr>
      <vt:lpstr>Podaci u docker kontejneru</vt:lpstr>
      <vt:lpstr>Podaci u docker kontejneru</vt:lpstr>
      <vt:lpstr>Podaci u docker kontejneru</vt:lpstr>
      <vt:lpstr>Podaci u docker kontejneru (volume mount)</vt:lpstr>
      <vt:lpstr>Podaci u docker kontejneru (bind mount)</vt:lpstr>
      <vt:lpstr>Dockerfile</vt:lpstr>
      <vt:lpstr>Kreiranje docker slike</vt:lpstr>
      <vt:lpstr>Dockerfile</vt:lpstr>
      <vt:lpstr>Dockerfile</vt:lpstr>
      <vt:lpstr>Dockerfile</vt:lpstr>
      <vt:lpstr>Kreiranje docker slike</vt:lpstr>
      <vt:lpstr>Docker image repository</vt:lpstr>
      <vt:lpstr>ENV</vt:lpstr>
      <vt:lpstr>ENV</vt:lpstr>
      <vt:lpstr>Pokretanje docker kontejnera</vt:lpstr>
      <vt:lpstr>Pokretanje docker kontejnera</vt:lpstr>
      <vt:lpstr>Docker compose</vt:lpstr>
      <vt:lpstr>Docker compose</vt:lpstr>
      <vt:lpstr>Docker compose</vt:lpstr>
      <vt:lpstr>Docker compose </vt:lpstr>
      <vt:lpstr>Docker compose </vt:lpstr>
      <vt:lpstr>Docker compose</vt:lpstr>
      <vt:lpstr>Docker compose</vt:lpstr>
      <vt:lpstr>Korisnici unutar docker kontejnera</vt:lpstr>
      <vt:lpstr>Docker image repositories</vt:lpstr>
      <vt:lpstr>Korisnici unutar docker kontejnera</vt:lpstr>
      <vt:lpstr>Korisnici unutar docker kontejnera</vt:lpstr>
      <vt:lpstr>Open Container Initiative</vt:lpstr>
      <vt:lpstr>KRAJ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velibor dosljak</dc:creator>
  <dc:description/>
  <cp:lastModifiedBy>dosljak</cp:lastModifiedBy>
  <cp:revision>182</cp:revision>
  <dcterms:created xsi:type="dcterms:W3CDTF">2024-11-11T12:19:11Z</dcterms:created>
  <dcterms:modified xsi:type="dcterms:W3CDTF">2025-02-28T11:05:28Z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39</vt:i4>
  </property>
</Properties>
</file>